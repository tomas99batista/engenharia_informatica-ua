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PT" sz="1200"/>
              <a:t>Tomás</a:t>
            </a:r>
            <a:endParaRPr b="1" sz="1200"/>
          </a:p>
          <a:p>
            <a:pPr indent="-298450" lvl="0" marL="457200" rtl="0" algn="l">
              <a:spcBef>
                <a:spcPts val="0"/>
              </a:spcBef>
              <a:spcAft>
                <a:spcPts val="0"/>
              </a:spcAft>
              <a:buSzPts val="1100"/>
              <a:buChar char="-"/>
            </a:pPr>
            <a:r>
              <a:rPr lang="pt-PT"/>
              <a:t>Bom dia a todos &lt;3</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pt-PT"/>
              <a:t>O nosso grupo é composto por mim, tomás, pela flávia, pelo joão e pelo diogo</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pt-PT"/>
              <a:t>Os nossos mentores são o prof. joão paulo barraca e o cláudio teixeira, dos stic</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pt-PT"/>
              <a:t>O tema do nosso projeto é um portal de self service para gestão de recursos virtuais do campus</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pt-PT"/>
              <a:t>O nosso produto tem o nome de self-service campus</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8a25f3db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8a25f3db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pt-PT" sz="1200">
                <a:solidFill>
                  <a:schemeClr val="dk1"/>
                </a:solidFill>
              </a:rPr>
              <a:t>Tomás</a:t>
            </a:r>
            <a:endParaRPr b="1" sz="1200">
              <a:solidFill>
                <a:schemeClr val="dk1"/>
              </a:solidFill>
            </a:endParaRPr>
          </a:p>
          <a:p>
            <a:pPr indent="-298450" lvl="0" marL="457200" rtl="0" algn="l">
              <a:spcBef>
                <a:spcPts val="0"/>
              </a:spcBef>
              <a:spcAft>
                <a:spcPts val="0"/>
              </a:spcAft>
              <a:buSzPts val="1100"/>
              <a:buChar char="-"/>
            </a:pPr>
            <a:r>
              <a:rPr lang="pt-PT"/>
              <a:t>O nosso projeto foi proposto pelo professor jpb em colaboração com os stic para colmatar um problema existente na rede do campus</a:t>
            </a:r>
            <a:endParaRPr/>
          </a:p>
          <a:p>
            <a:pPr indent="-298450" lvl="0" marL="457200" rtl="0" algn="l">
              <a:spcBef>
                <a:spcPts val="0"/>
              </a:spcBef>
              <a:spcAft>
                <a:spcPts val="0"/>
              </a:spcAft>
              <a:buSzPts val="1100"/>
              <a:buChar char="-"/>
            </a:pPr>
            <a:r>
              <a:rPr lang="pt-PT"/>
              <a:t>Imaginemos isto? </a:t>
            </a:r>
            <a:endParaRPr/>
          </a:p>
          <a:p>
            <a:pPr indent="-298450" lvl="1" marL="914400" rtl="0" algn="l">
              <a:spcBef>
                <a:spcPts val="0"/>
              </a:spcBef>
              <a:spcAft>
                <a:spcPts val="0"/>
              </a:spcAft>
              <a:buSzPts val="1100"/>
              <a:buChar char="-"/>
            </a:pPr>
            <a:r>
              <a:rPr lang="pt-PT"/>
              <a:t>Quando alguém, atualmente, quer consultar o estado de um switch e, dentro do mesmo, consultar uma porta e realizar alterações sobre, tanto na porta, como no switch, teria de ser através do terminal</a:t>
            </a:r>
            <a:endParaRPr/>
          </a:p>
          <a:p>
            <a:pPr indent="-298450" lvl="0" marL="457200" rtl="0" algn="l">
              <a:spcBef>
                <a:spcPts val="0"/>
              </a:spcBef>
              <a:spcAft>
                <a:spcPts val="0"/>
              </a:spcAft>
              <a:buSzPts val="1100"/>
              <a:buChar char="-"/>
            </a:pPr>
            <a:r>
              <a:rPr b="1" lang="pt-PT"/>
              <a:t>Problemas com o terminal:</a:t>
            </a:r>
            <a:endParaRPr/>
          </a:p>
          <a:p>
            <a:pPr indent="-298450" lvl="1" marL="914400" rtl="0" algn="l">
              <a:spcBef>
                <a:spcPts val="0"/>
              </a:spcBef>
              <a:spcAft>
                <a:spcPts val="0"/>
              </a:spcAft>
              <a:buSzPts val="1100"/>
              <a:buChar char="-"/>
            </a:pPr>
            <a:r>
              <a:rPr lang="pt-PT"/>
              <a:t>Não é apelativo</a:t>
            </a:r>
            <a:endParaRPr/>
          </a:p>
          <a:p>
            <a:pPr indent="-298450" lvl="1" marL="914400" rtl="0" algn="l">
              <a:spcBef>
                <a:spcPts val="0"/>
              </a:spcBef>
              <a:spcAft>
                <a:spcPts val="0"/>
              </a:spcAft>
              <a:buSzPts val="1100"/>
              <a:buChar char="-"/>
            </a:pPr>
            <a:r>
              <a:rPr lang="pt-PT"/>
              <a:t>Falta de cor e de feedback visual</a:t>
            </a:r>
            <a:endParaRPr/>
          </a:p>
          <a:p>
            <a:pPr indent="-298450" lvl="1" marL="914400" rtl="0" algn="l">
              <a:spcBef>
                <a:spcPts val="0"/>
              </a:spcBef>
              <a:spcAft>
                <a:spcPts val="0"/>
              </a:spcAft>
              <a:buSzPts val="1100"/>
              <a:buChar char="-"/>
            </a:pPr>
            <a:r>
              <a:rPr lang="pt-PT"/>
              <a:t>Envolve alto nível de conhecimento</a:t>
            </a:r>
            <a:endParaRPr/>
          </a:p>
          <a:p>
            <a:pPr indent="-298450" lvl="1" marL="914400" rtl="0" algn="l">
              <a:spcBef>
                <a:spcPts val="0"/>
              </a:spcBef>
              <a:spcAft>
                <a:spcPts val="0"/>
              </a:spcAft>
              <a:buSzPts val="1100"/>
              <a:buChar char="-"/>
            </a:pPr>
            <a:r>
              <a:rPr lang="pt-PT"/>
              <a:t>Ter de decorar ou ter de saber os comandos todos</a:t>
            </a:r>
            <a:endParaRPr/>
          </a:p>
          <a:p>
            <a:pPr indent="-298450" lvl="1" marL="914400" rtl="0" algn="l">
              <a:spcBef>
                <a:spcPts val="0"/>
              </a:spcBef>
              <a:spcAft>
                <a:spcPts val="0"/>
              </a:spcAft>
              <a:buSzPts val="1100"/>
              <a:buChar char="-"/>
            </a:pPr>
            <a:r>
              <a:rPr lang="pt-PT"/>
              <a:t>(Inabilidade de poder receber informação filtrada por um elemento [tipo por nome, state, etc])?</a:t>
            </a:r>
            <a:endParaRPr/>
          </a:p>
          <a:p>
            <a:pPr indent="-298450" lvl="0" marL="457200" rtl="0" algn="l">
              <a:spcBef>
                <a:spcPts val="0"/>
              </a:spcBef>
              <a:spcAft>
                <a:spcPts val="0"/>
              </a:spcAft>
              <a:buSzPts val="1100"/>
              <a:buChar char="-"/>
            </a:pPr>
            <a:r>
              <a:rPr b="1" lang="pt-PT"/>
              <a:t>O nosso objetivo:</a:t>
            </a:r>
            <a:endParaRPr b="1"/>
          </a:p>
          <a:p>
            <a:pPr indent="-298450" lvl="1" marL="914400" rtl="0" algn="l">
              <a:spcBef>
                <a:spcPts val="0"/>
              </a:spcBef>
              <a:spcAft>
                <a:spcPts val="0"/>
              </a:spcAft>
              <a:buSzPts val="1100"/>
              <a:buChar char="-"/>
            </a:pPr>
            <a:r>
              <a:rPr lang="pt-PT"/>
              <a:t>Criar uma aplicação web apelativa onde os utilizadores possam observar e controlar os equipamentos </a:t>
            </a:r>
            <a:endParaRPr/>
          </a:p>
          <a:p>
            <a:pPr indent="-298450" lvl="1" marL="914400" rtl="0" algn="l">
              <a:spcBef>
                <a:spcPts val="0"/>
              </a:spcBef>
              <a:spcAft>
                <a:spcPts val="0"/>
              </a:spcAft>
              <a:buSzPts val="1100"/>
              <a:buChar char="-"/>
            </a:pPr>
            <a:r>
              <a:rPr lang="pt-PT"/>
              <a:t>Que seja fácil de usar, intuitiva, que ofereça um bom feedback visual ao utilizador</a:t>
            </a:r>
            <a:endParaRPr/>
          </a:p>
          <a:p>
            <a:pPr indent="-298450" lvl="1" marL="914400" rtl="0" algn="l">
              <a:spcBef>
                <a:spcPts val="0"/>
              </a:spcBef>
              <a:spcAft>
                <a:spcPts val="0"/>
              </a:spcAft>
              <a:buSzPts val="1100"/>
              <a:buChar char="-"/>
            </a:pPr>
            <a:r>
              <a:rPr lang="pt-PT"/>
              <a:t>Que não seja necessário um alto nível de conhecimento de linha de comandos, a plataforma é 0-code based</a:t>
            </a:r>
            <a:endParaRPr/>
          </a:p>
          <a:p>
            <a:pPr indent="-298450" lvl="1" marL="914400" rtl="0" algn="l">
              <a:spcBef>
                <a:spcPts val="0"/>
              </a:spcBef>
              <a:spcAft>
                <a:spcPts val="0"/>
              </a:spcAft>
              <a:buSzPts val="1100"/>
              <a:buChar char="-"/>
            </a:pPr>
            <a:r>
              <a:rPr lang="pt-PT"/>
              <a:t>Que seja possível consultar todas as alterações feitas para emendar erros, estatísticas para estar ao corrente do estado da rede.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8ae6fdfc4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8ae6fdfc4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PT" sz="1200">
                <a:solidFill>
                  <a:schemeClr val="dk1"/>
                </a:solidFill>
              </a:rPr>
              <a:t>Dias</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304800" lvl="0" marL="457200" rtl="0" algn="l">
              <a:spcBef>
                <a:spcPts val="0"/>
              </a:spcBef>
              <a:spcAft>
                <a:spcPts val="0"/>
              </a:spcAft>
              <a:buClr>
                <a:schemeClr val="dk1"/>
              </a:buClr>
              <a:buSzPts val="1200"/>
              <a:buChar char="-"/>
            </a:pPr>
            <a:r>
              <a:rPr b="1" lang="pt-PT" sz="1200">
                <a:solidFill>
                  <a:schemeClr val="dk1"/>
                </a:solidFill>
              </a:rPr>
              <a:t>Intro:</a:t>
            </a:r>
            <a:endParaRPr b="1" sz="1200">
              <a:solidFill>
                <a:schemeClr val="dk1"/>
              </a:solidFill>
            </a:endParaRPr>
          </a:p>
          <a:p>
            <a:pPr indent="0" lvl="0" marL="0" rtl="0" algn="l">
              <a:spcBef>
                <a:spcPts val="0"/>
              </a:spcBef>
              <a:spcAft>
                <a:spcPts val="0"/>
              </a:spcAft>
              <a:buNone/>
            </a:pPr>
            <a:r>
              <a:rPr lang="pt-PT" sz="1200">
                <a:solidFill>
                  <a:schemeClr val="dk1"/>
                </a:solidFill>
              </a:rPr>
              <a:t>Software que </a:t>
            </a:r>
            <a:r>
              <a:rPr lang="pt-PT" sz="1200">
                <a:solidFill>
                  <a:schemeClr val="dk1"/>
                </a:solidFill>
              </a:rPr>
              <a:t>proporciona a</a:t>
            </a:r>
            <a:r>
              <a:rPr lang="pt-PT" sz="1200">
                <a:solidFill>
                  <a:schemeClr val="dk1"/>
                </a:solidFill>
              </a:rPr>
              <a:t> monitorização de uma rede não é nada de novo, existem várias plataformas que permitem a supervisão contínua de uma rede com o </a:t>
            </a:r>
            <a:r>
              <a:rPr lang="pt-PT" sz="1200">
                <a:solidFill>
                  <a:schemeClr val="dk1"/>
                </a:solidFill>
              </a:rPr>
              <a:t>objetivo</a:t>
            </a:r>
            <a:r>
              <a:rPr lang="pt-PT" sz="1200">
                <a:solidFill>
                  <a:schemeClr val="dk1"/>
                </a:solidFill>
              </a:rPr>
              <a:t> de deteção de falhas, impedimentos de rede, e muitos outros motivos.</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304800" lvl="0" marL="457200" rtl="0" algn="l">
              <a:spcBef>
                <a:spcPts val="0"/>
              </a:spcBef>
              <a:spcAft>
                <a:spcPts val="0"/>
              </a:spcAft>
              <a:buClr>
                <a:schemeClr val="dk1"/>
              </a:buClr>
              <a:buSzPts val="1200"/>
              <a:buChar char="-"/>
            </a:pPr>
            <a:r>
              <a:rPr b="1" lang="pt-PT" sz="1200">
                <a:solidFill>
                  <a:schemeClr val="dk1"/>
                </a:solidFill>
              </a:rPr>
              <a:t>O que a nossa plataforma precisa que não é “oferecido” por software externo</a:t>
            </a:r>
            <a:r>
              <a:rPr b="1" lang="pt-PT" sz="1200">
                <a:solidFill>
                  <a:schemeClr val="dk1"/>
                </a:solidFill>
              </a:rPr>
              <a:t>:</a:t>
            </a:r>
            <a:endParaRPr b="1" sz="1200">
              <a:solidFill>
                <a:schemeClr val="dk1"/>
              </a:solidFill>
            </a:endParaRPr>
          </a:p>
          <a:p>
            <a:pPr indent="0" lvl="0" marL="0" rtl="0" algn="l">
              <a:spcBef>
                <a:spcPts val="0"/>
              </a:spcBef>
              <a:spcAft>
                <a:spcPts val="0"/>
              </a:spcAft>
              <a:buNone/>
            </a:pPr>
            <a:r>
              <a:rPr lang="pt-PT" sz="1200">
                <a:solidFill>
                  <a:schemeClr val="dk1"/>
                </a:solidFill>
              </a:rPr>
              <a:t>O principal objetivo do projeto, como referido, é facilitar o uso e a compreensão dos dados sobre os aparelhos da rede, é no foco nestes dois objetivos que a maioria das plataformas à deposição de momento, falham.</a:t>
            </a:r>
            <a:endParaRPr sz="1200">
              <a:solidFill>
                <a:schemeClr val="dk1"/>
              </a:solidFill>
            </a:endParaRPr>
          </a:p>
          <a:p>
            <a:pPr indent="0" lvl="0" marL="0" rtl="0" algn="l">
              <a:spcBef>
                <a:spcPts val="0"/>
              </a:spcBef>
              <a:spcAft>
                <a:spcPts val="0"/>
              </a:spcAft>
              <a:buNone/>
            </a:pPr>
            <a:r>
              <a:rPr lang="pt-PT" sz="1200">
                <a:solidFill>
                  <a:schemeClr val="dk1"/>
                </a:solidFill>
              </a:rPr>
              <a:t>Várias plataformas foram estudadas e utilizadas de modo a ter uma melhor noção do que funcionava e o que não funcionava.</a:t>
            </a:r>
            <a:endParaRPr sz="1200">
              <a:solidFill>
                <a:schemeClr val="dk1"/>
              </a:solidFill>
            </a:endParaRPr>
          </a:p>
          <a:p>
            <a:pPr indent="0" lvl="0" marL="0" rtl="0" algn="l">
              <a:spcBef>
                <a:spcPts val="0"/>
              </a:spcBef>
              <a:spcAft>
                <a:spcPts val="0"/>
              </a:spcAft>
              <a:buNone/>
            </a:pPr>
            <a:r>
              <a:t/>
            </a:r>
            <a:endParaRPr b="1" sz="1200">
              <a:solidFill>
                <a:schemeClr val="dk1"/>
              </a:solidFill>
            </a:endParaRPr>
          </a:p>
          <a:p>
            <a:pPr indent="-304800" lvl="0" marL="457200" rtl="0" algn="l">
              <a:spcBef>
                <a:spcPts val="0"/>
              </a:spcBef>
              <a:spcAft>
                <a:spcPts val="0"/>
              </a:spcAft>
              <a:buClr>
                <a:schemeClr val="dk1"/>
              </a:buClr>
              <a:buSzPts val="1200"/>
              <a:buChar char="-"/>
            </a:pPr>
            <a:r>
              <a:rPr b="1" lang="pt-PT" sz="1200">
                <a:solidFill>
                  <a:schemeClr val="dk1"/>
                </a:solidFill>
              </a:rPr>
              <a:t>Explicar exemplos &amp; Concluir com a necessidade da criação de SSC:</a:t>
            </a:r>
            <a:endParaRPr b="1" sz="1200">
              <a:solidFill>
                <a:schemeClr val="dk1"/>
              </a:solidFill>
            </a:endParaRPr>
          </a:p>
          <a:p>
            <a:pPr indent="0" lvl="0" marL="0" rtl="0" algn="l">
              <a:spcBef>
                <a:spcPts val="0"/>
              </a:spcBef>
              <a:spcAft>
                <a:spcPts val="0"/>
              </a:spcAft>
              <a:buNone/>
            </a:pPr>
            <a:r>
              <a:rPr lang="pt-PT" sz="1200">
                <a:solidFill>
                  <a:schemeClr val="dk1"/>
                </a:solidFill>
              </a:rPr>
              <a:t>Duas delas podemos ver no ecrã. Solarwinds e Kaseya são duas plataformas de monitorização de rede, Solarwinds possui muito boas qualidades, diagnósticos são fáceis e rápidos de se fazer e oferece muito boa performance. Apesar disto, a plataforma é muito densa em informação e não tem o nível de representação visual necessário, adicionando os custos extremamente elevados da plataforma, não seria um bom substituto.</a:t>
            </a:r>
            <a:endParaRPr sz="1200">
              <a:solidFill>
                <a:schemeClr val="dk1"/>
              </a:solidFill>
            </a:endParaRPr>
          </a:p>
          <a:p>
            <a:pPr indent="0" lvl="0" marL="0" rtl="0" algn="l">
              <a:spcBef>
                <a:spcPts val="0"/>
              </a:spcBef>
              <a:spcAft>
                <a:spcPts val="0"/>
              </a:spcAft>
              <a:buNone/>
            </a:pPr>
            <a:r>
              <a:rPr lang="pt-PT" sz="1200">
                <a:solidFill>
                  <a:schemeClr val="dk1"/>
                </a:solidFill>
              </a:rPr>
              <a:t>A mesma situação ocorre com Kaseya, oferece uma fácil resolução de problemas de rede, é rápido e eficaz mas, possui uma interface pouco apelativa e é também uma plataforma de custo bastante elevado, especialmente quando são adicionadas funcionalidades adicionais.</a:t>
            </a:r>
            <a:endParaRPr sz="1200">
              <a:solidFill>
                <a:schemeClr val="dk1"/>
              </a:solidFill>
            </a:endParaRPr>
          </a:p>
          <a:p>
            <a:pPr indent="0" lvl="0" marL="0" rtl="0" algn="l">
              <a:spcBef>
                <a:spcPts val="0"/>
              </a:spcBef>
              <a:spcAft>
                <a:spcPts val="0"/>
              </a:spcAft>
              <a:buNone/>
            </a:pPr>
            <a:r>
              <a:t/>
            </a:r>
            <a:endParaRPr b="1" sz="12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8a25f3db8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8a25f3db8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PT" sz="1200">
                <a:solidFill>
                  <a:schemeClr val="dk1"/>
                </a:solidFill>
              </a:rPr>
              <a:t>Dias</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304800" lvl="0" marL="457200" rtl="0" algn="l">
              <a:spcBef>
                <a:spcPts val="0"/>
              </a:spcBef>
              <a:spcAft>
                <a:spcPts val="0"/>
              </a:spcAft>
              <a:buClr>
                <a:schemeClr val="dk1"/>
              </a:buClr>
              <a:buSzPts val="1200"/>
              <a:buChar char="-"/>
            </a:pPr>
            <a:r>
              <a:rPr lang="pt-PT" sz="1200">
                <a:solidFill>
                  <a:schemeClr val="dk1"/>
                </a:solidFill>
              </a:rPr>
              <a:t>A plataforma tem uso em todo o  ecossistema universitário.</a:t>
            </a:r>
            <a:endParaRPr sz="1200">
              <a:solidFill>
                <a:schemeClr val="dk1"/>
              </a:solidFill>
            </a:endParaRPr>
          </a:p>
          <a:p>
            <a:pPr indent="-304800" lvl="0" marL="457200" rtl="0" algn="l">
              <a:spcBef>
                <a:spcPts val="0"/>
              </a:spcBef>
              <a:spcAft>
                <a:spcPts val="0"/>
              </a:spcAft>
              <a:buClr>
                <a:schemeClr val="dk1"/>
              </a:buClr>
              <a:buSzPts val="1200"/>
              <a:buChar char="-"/>
            </a:pPr>
            <a:r>
              <a:rPr lang="pt-PT" sz="1200">
                <a:solidFill>
                  <a:schemeClr val="dk1"/>
                </a:solidFill>
              </a:rPr>
              <a:t>Como referido anteriormente, um dos objetivos era colmatar a divergência de conhecimento entre users. Isto porque tanto podemos ter um professor de um determinado departamento, que apenas quer ver se houve alguma alteração aos switches ou abrir alguma porta de um switch no seu departamento.</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pt-PT" sz="1200">
                <a:solidFill>
                  <a:schemeClr val="dk1"/>
                </a:solidFill>
              </a:rPr>
              <a:t>	Como podemos ter também um membro dos stic, que após um problema na rede, pode recorrer a logs para resolução de problemas, verificar o uptime de cada um, adicionar, eliminar ou apenas dar update a um switch,  entre muitas outras operações.</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pt-PT" sz="1200">
                <a:solidFill>
                  <a:schemeClr val="dk1"/>
                </a:solidFill>
              </a:rPr>
              <a:t>	</a:t>
            </a:r>
            <a:endParaRPr sz="12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8ae6fdfc4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8ae6fdfc4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PT" sz="1200">
                <a:solidFill>
                  <a:schemeClr val="dk1"/>
                </a:solidFill>
              </a:rPr>
              <a:t>Diogo</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rPr lang="pt-PT" sz="1200">
                <a:solidFill>
                  <a:schemeClr val="dk1"/>
                </a:solidFill>
              </a:rPr>
              <a:t>Este diagrama representa as </a:t>
            </a:r>
            <a:r>
              <a:rPr lang="pt-PT" sz="1200">
                <a:solidFill>
                  <a:schemeClr val="dk1"/>
                </a:solidFill>
              </a:rPr>
              <a:t>ligações</a:t>
            </a:r>
            <a:r>
              <a:rPr lang="pt-PT" sz="1200">
                <a:solidFill>
                  <a:schemeClr val="dk1"/>
                </a:solidFill>
              </a:rPr>
              <a:t> entre os vários </a:t>
            </a:r>
            <a:r>
              <a:rPr lang="pt-PT" sz="1200">
                <a:solidFill>
                  <a:schemeClr val="dk1"/>
                </a:solidFill>
              </a:rPr>
              <a:t>módulos</a:t>
            </a:r>
            <a:r>
              <a:rPr lang="pt-PT" sz="1200">
                <a:solidFill>
                  <a:schemeClr val="dk1"/>
                </a:solidFill>
              </a:rPr>
              <a:t>.</a:t>
            </a:r>
            <a:endParaRPr sz="1200">
              <a:solidFill>
                <a:schemeClr val="dk1"/>
              </a:solidFill>
            </a:endParaRPr>
          </a:p>
          <a:p>
            <a:pPr indent="0" lvl="0" marL="0" rtl="0" algn="l">
              <a:spcBef>
                <a:spcPts val="0"/>
              </a:spcBef>
              <a:spcAft>
                <a:spcPts val="0"/>
              </a:spcAft>
              <a:buNone/>
            </a:pPr>
            <a:r>
              <a:rPr lang="pt-PT" sz="1200">
                <a:solidFill>
                  <a:schemeClr val="dk1"/>
                </a:solidFill>
              </a:rPr>
              <a:t>O cliente interage com a </a:t>
            </a:r>
            <a:r>
              <a:rPr lang="pt-PT" sz="1200">
                <a:solidFill>
                  <a:schemeClr val="dk1"/>
                </a:solidFill>
              </a:rPr>
              <a:t>aplicação</a:t>
            </a:r>
            <a:r>
              <a:rPr lang="pt-PT" sz="1200">
                <a:solidFill>
                  <a:schemeClr val="dk1"/>
                </a:solidFill>
              </a:rPr>
              <a:t> web, quando este solicita uma </a:t>
            </a:r>
            <a:r>
              <a:rPr lang="pt-PT" sz="1200">
                <a:solidFill>
                  <a:schemeClr val="dk1"/>
                </a:solidFill>
              </a:rPr>
              <a:t>ação</a:t>
            </a:r>
            <a:r>
              <a:rPr lang="pt-PT" sz="1200">
                <a:solidFill>
                  <a:schemeClr val="dk1"/>
                </a:solidFill>
              </a:rPr>
              <a:t> o backend vai à base de dados pegar as </a:t>
            </a:r>
            <a:r>
              <a:rPr lang="pt-PT" sz="1200">
                <a:solidFill>
                  <a:schemeClr val="dk1"/>
                </a:solidFill>
              </a:rPr>
              <a:t>informações</a:t>
            </a:r>
            <a:r>
              <a:rPr lang="pt-PT" sz="1200">
                <a:solidFill>
                  <a:schemeClr val="dk1"/>
                </a:solidFill>
              </a:rPr>
              <a:t> dos switches. Quando são necessários valores que não estão em cache na bd ou modificar valores nos switches,  é enviado para o worker um pedido para que este aceda aos switches e faça as consultas ou modificações </a:t>
            </a:r>
            <a:r>
              <a:rPr lang="pt-PT" sz="1200">
                <a:solidFill>
                  <a:schemeClr val="dk1"/>
                </a:solidFill>
              </a:rPr>
              <a:t>requisitadas</a:t>
            </a:r>
            <a:r>
              <a:rPr lang="pt-PT" sz="1200">
                <a:solidFill>
                  <a:schemeClr val="dk1"/>
                </a:solidFill>
              </a:rPr>
              <a:t>.</a:t>
            </a:r>
            <a:endParaRPr sz="12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8a25f3db8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8a25f3db8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pt-PT" sz="1200">
                <a:solidFill>
                  <a:schemeClr val="dk1"/>
                </a:solidFill>
              </a:rPr>
              <a:t>Diogo</a:t>
            </a:r>
            <a:endParaRPr b="1" sz="1200">
              <a:solidFill>
                <a:schemeClr val="dk1"/>
              </a:solidFill>
            </a:endParaRPr>
          </a:p>
          <a:p>
            <a:pPr indent="0" lvl="0" marL="0" rtl="0" algn="l">
              <a:spcBef>
                <a:spcPts val="0"/>
              </a:spcBef>
              <a:spcAft>
                <a:spcPts val="0"/>
              </a:spcAft>
              <a:buClr>
                <a:schemeClr val="dk1"/>
              </a:buClr>
              <a:buSzPts val="1100"/>
              <a:buFont typeface="Arial"/>
              <a:buNone/>
            </a:pPr>
            <a:r>
              <a:t/>
            </a:r>
            <a:endParaRPr b="1" sz="1200">
              <a:solidFill>
                <a:schemeClr val="dk1"/>
              </a:solidFill>
            </a:endParaRPr>
          </a:p>
          <a:p>
            <a:pPr indent="0" lvl="0" marL="0" rtl="0" algn="l">
              <a:spcBef>
                <a:spcPts val="0"/>
              </a:spcBef>
              <a:spcAft>
                <a:spcPts val="0"/>
              </a:spcAft>
              <a:buClr>
                <a:schemeClr val="dk1"/>
              </a:buClr>
              <a:buSzPts val="1100"/>
              <a:buFont typeface="Arial"/>
              <a:buNone/>
            </a:pPr>
            <a:r>
              <a:rPr lang="pt-PT" sz="1200">
                <a:solidFill>
                  <a:schemeClr val="dk1"/>
                </a:solidFill>
              </a:rPr>
              <a:t>Neste diagrama encontramos as várias tecnologias utilizadas para a </a:t>
            </a:r>
            <a:r>
              <a:rPr lang="pt-PT" sz="1200">
                <a:solidFill>
                  <a:schemeClr val="dk1"/>
                </a:solidFill>
              </a:rPr>
              <a:t>realização</a:t>
            </a:r>
            <a:r>
              <a:rPr lang="pt-PT" sz="1200">
                <a:solidFill>
                  <a:schemeClr val="dk1"/>
                </a:solidFill>
              </a:rPr>
              <a:t> deste trabalho.</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pt-PT" sz="1200">
                <a:solidFill>
                  <a:schemeClr val="dk1"/>
                </a:solidFill>
              </a:rPr>
              <a:t>A </a:t>
            </a:r>
            <a:r>
              <a:rPr b="1" lang="pt-PT" sz="1200">
                <a:solidFill>
                  <a:schemeClr val="dk1"/>
                </a:solidFill>
              </a:rPr>
              <a:t>webapp</a:t>
            </a:r>
            <a:r>
              <a:rPr lang="pt-PT" sz="1200">
                <a:solidFill>
                  <a:schemeClr val="dk1"/>
                </a:solidFill>
              </a:rPr>
              <a:t>, </a:t>
            </a:r>
            <a:r>
              <a:rPr lang="pt-PT" sz="1200">
                <a:solidFill>
                  <a:schemeClr val="dk1"/>
                </a:solidFill>
              </a:rPr>
              <a:t>constituída</a:t>
            </a:r>
            <a:r>
              <a:rPr lang="pt-PT" sz="1200">
                <a:solidFill>
                  <a:schemeClr val="dk1"/>
                </a:solidFill>
              </a:rPr>
              <a:t> pelo frontend e backend, está a correr em docker a usar partido do nginx para redirecionar para o </a:t>
            </a:r>
            <a:r>
              <a:rPr lang="pt-PT" sz="1200">
                <a:solidFill>
                  <a:schemeClr val="dk1"/>
                </a:solidFill>
              </a:rPr>
              <a:t>domínio</a:t>
            </a:r>
            <a:r>
              <a:rPr lang="pt-PT" sz="1200">
                <a:solidFill>
                  <a:schemeClr val="dk1"/>
                </a:solidFill>
              </a:rPr>
              <a:t> que nos foi fornecido e usufruir de https.</a:t>
            </a:r>
            <a:endParaRPr sz="1200">
              <a:solidFill>
                <a:schemeClr val="dk1"/>
              </a:solidFill>
            </a:endParaRPr>
          </a:p>
          <a:p>
            <a:pPr indent="-304800" lvl="0" marL="457200" rtl="0" algn="l">
              <a:spcBef>
                <a:spcPts val="0"/>
              </a:spcBef>
              <a:spcAft>
                <a:spcPts val="0"/>
              </a:spcAft>
              <a:buClr>
                <a:schemeClr val="dk1"/>
              </a:buClr>
              <a:buSzPts val="1200"/>
              <a:buChar char="-"/>
            </a:pPr>
            <a:r>
              <a:rPr lang="pt-PT" sz="1200">
                <a:solidFill>
                  <a:schemeClr val="dk1"/>
                </a:solidFill>
              </a:rPr>
              <a:t>No frontend, ou seja, a </a:t>
            </a:r>
            <a:r>
              <a:rPr lang="pt-PT" sz="1200">
                <a:solidFill>
                  <a:schemeClr val="dk1"/>
                </a:solidFill>
              </a:rPr>
              <a:t>aplicação</a:t>
            </a:r>
            <a:r>
              <a:rPr lang="pt-PT" sz="1200">
                <a:solidFill>
                  <a:schemeClr val="dk1"/>
                </a:solidFill>
              </a:rPr>
              <a:t> web, foi feita com html css JS e bootstrap, utilizando o D3JS para fazer os gráficos e Ajax para fazer alguns requests.</a:t>
            </a:r>
            <a:endParaRPr sz="1200">
              <a:solidFill>
                <a:schemeClr val="dk1"/>
              </a:solidFill>
            </a:endParaRPr>
          </a:p>
          <a:p>
            <a:pPr indent="-304800" lvl="0" marL="457200" rtl="0" algn="l">
              <a:spcBef>
                <a:spcPts val="0"/>
              </a:spcBef>
              <a:spcAft>
                <a:spcPts val="0"/>
              </a:spcAft>
              <a:buClr>
                <a:schemeClr val="dk1"/>
              </a:buClr>
              <a:buSzPts val="1200"/>
              <a:buChar char="-"/>
            </a:pPr>
            <a:r>
              <a:rPr lang="pt-PT" sz="1200">
                <a:solidFill>
                  <a:schemeClr val="dk1"/>
                </a:solidFill>
              </a:rPr>
              <a:t>O backend desta foi desenvolvido em Django, utilizando o Gunicorn para correr a aplicação em fase de produção.</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pt-PT" sz="1200">
                <a:solidFill>
                  <a:schemeClr val="dk1"/>
                </a:solidFill>
              </a:rPr>
              <a:t>A </a:t>
            </a:r>
            <a:r>
              <a:rPr b="1" lang="pt-PT" sz="1200">
                <a:solidFill>
                  <a:schemeClr val="dk1"/>
                </a:solidFill>
              </a:rPr>
              <a:t>base de dados</a:t>
            </a:r>
            <a:r>
              <a:rPr lang="pt-PT" sz="1200">
                <a:solidFill>
                  <a:schemeClr val="dk1"/>
                </a:solidFill>
              </a:rPr>
              <a:t> é uma bd relacional, postgresql, também a correr em docker.</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pt-PT" sz="1200">
                <a:solidFill>
                  <a:schemeClr val="dk1"/>
                </a:solidFill>
              </a:rPr>
              <a:t>E no caso de ser necessária alguma interação com os switches, a webapp irá comunicar com uma segunda aplicação django, um </a:t>
            </a:r>
            <a:r>
              <a:rPr lang="pt-PT" sz="1200">
                <a:solidFill>
                  <a:schemeClr val="dk1"/>
                </a:solidFill>
              </a:rPr>
              <a:t>worker, usando </a:t>
            </a:r>
            <a:r>
              <a:rPr lang="pt-PT" sz="1200">
                <a:solidFill>
                  <a:schemeClr val="dk1"/>
                </a:solidFill>
              </a:rPr>
              <a:t>celery para tirar partido de filas e de poder fazer os pedidos assincronamente, que usa o redis como messages em queue.</a:t>
            </a:r>
            <a:endParaRPr sz="12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8a25f3db8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8a25f3db8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PT" sz="1200">
                <a:solidFill>
                  <a:schemeClr val="dk1"/>
                </a:solidFill>
              </a:rPr>
              <a:t>Tomás + Flávia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8ae6fdfc4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8ae6fdfc4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PT" sz="1200">
                <a:solidFill>
                  <a:schemeClr val="dk1"/>
                </a:solidFill>
              </a:rPr>
              <a:t>Tomás + Flávia</a:t>
            </a:r>
            <a:endParaRPr/>
          </a:p>
          <a:p>
            <a:pPr indent="-298450" lvl="0" marL="457200" rtl="0" algn="l">
              <a:spcBef>
                <a:spcPts val="0"/>
              </a:spcBef>
              <a:spcAft>
                <a:spcPts val="0"/>
              </a:spcAft>
              <a:buSzPts val="1100"/>
              <a:buChar char="-"/>
            </a:pPr>
            <a:r>
              <a:rPr lang="pt-PT"/>
              <a:t>A ideia do nosso projeto era implementar o login da UA, com o IDP, de modo a ter o email da instituição associado ao perfil do utilizador e, consequentemente, nos logs e, daí, derivar os níveis de permissão de acordo com a sua posição/cargo na universidade. </a:t>
            </a:r>
            <a:endParaRPr/>
          </a:p>
          <a:p>
            <a:pPr indent="-298450" lvl="0" marL="457200" rtl="0" algn="l">
              <a:spcBef>
                <a:spcPts val="0"/>
              </a:spcBef>
              <a:spcAft>
                <a:spcPts val="0"/>
              </a:spcAft>
              <a:buSzPts val="1100"/>
              <a:buChar char="-"/>
            </a:pPr>
            <a:r>
              <a:rPr lang="pt-PT"/>
              <a:t>Devido à falta de tempo aliado a atrasos relacionados com a COVID, neste momento o nosso website implementa um login onde apenas são permitidos emails @ua.pt, sem níveis de permissão.</a:t>
            </a:r>
            <a:endParaRPr/>
          </a:p>
          <a:p>
            <a:pPr indent="-298450" lvl="0" marL="457200" rtl="0" algn="l">
              <a:spcBef>
                <a:spcPts val="0"/>
              </a:spcBef>
              <a:spcAft>
                <a:spcPts val="0"/>
              </a:spcAft>
              <a:buSzPts val="1100"/>
              <a:buChar char="-"/>
            </a:pPr>
            <a:r>
              <a:rPr lang="pt-PT"/>
              <a:t>Mas, contudo, toda a nossa aplicação Django está pronta para dar o salto para a implementação do login da UA (metadata, settings do django, librarias)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8ae6fdfc4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8ae6fdfc4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PT" sz="1200">
                <a:solidFill>
                  <a:schemeClr val="dk1"/>
                </a:solidFill>
              </a:rPr>
              <a:t>Tomás + Flávia</a:t>
            </a:r>
            <a:endParaRPr>
              <a:solidFill>
                <a:schemeClr val="dk1"/>
              </a:solidFill>
            </a:endParaRPr>
          </a:p>
          <a:p>
            <a:pPr indent="-298450" lvl="0" marL="457200" rtl="0" algn="l">
              <a:spcBef>
                <a:spcPts val="0"/>
              </a:spcBef>
              <a:spcAft>
                <a:spcPts val="0"/>
              </a:spcAft>
              <a:buSzPts val="1100"/>
              <a:buChar char="-"/>
            </a:pPr>
            <a:r>
              <a:rPr lang="pt-PT"/>
              <a:t>A nossa plataforma foi desenhada desde o início para ser uma ferramenta de trabalho para utilizadores experientes no sistema, por isso, foi um requesito ser simples e objetiva, de modo a que nao distraísse o utilizador e poderia ter bastante informação, ser massuda, porque o utilizador iria usá-la numa base diária e estaria mais do que acostumado a trabalhar com ela</a:t>
            </a:r>
            <a:endParaRPr/>
          </a:p>
          <a:p>
            <a:pPr indent="-298450" lvl="0" marL="457200" rtl="0" algn="l">
              <a:spcBef>
                <a:spcPts val="0"/>
              </a:spcBef>
              <a:spcAft>
                <a:spcPts val="0"/>
              </a:spcAft>
              <a:buSzPts val="1100"/>
              <a:buChar char="-"/>
            </a:pPr>
            <a:r>
              <a:rPr lang="pt-PT"/>
              <a:t>Na página principal o user tem todas as ferramentas necessárias para realizar as suas tarefas:</a:t>
            </a:r>
            <a:endParaRPr/>
          </a:p>
          <a:p>
            <a:pPr indent="-298450" lvl="1" marL="914400" rtl="0" algn="l">
              <a:spcBef>
                <a:spcPts val="0"/>
              </a:spcBef>
              <a:spcAft>
                <a:spcPts val="0"/>
              </a:spcAft>
              <a:buSzPts val="1100"/>
              <a:buChar char="-"/>
            </a:pPr>
            <a:r>
              <a:rPr lang="pt-PT"/>
              <a:t>Uma lista com todos os switches existentes na base de dados, uma lista com pesquisa, ordenação (por nome switch e por departamento)</a:t>
            </a:r>
            <a:endParaRPr/>
          </a:p>
          <a:p>
            <a:pPr indent="-298450" lvl="1" marL="914400" rtl="0" algn="l">
              <a:spcBef>
                <a:spcPts val="0"/>
              </a:spcBef>
              <a:spcAft>
                <a:spcPts val="0"/>
              </a:spcAft>
              <a:buSzPts val="1100"/>
              <a:buChar char="-"/>
            </a:pPr>
            <a:r>
              <a:rPr lang="pt-PT"/>
              <a:t>Um mapa da ua navegável</a:t>
            </a:r>
            <a:endParaRPr/>
          </a:p>
          <a:p>
            <a:pPr indent="-298450" lvl="1" marL="914400" rtl="0" algn="l">
              <a:spcBef>
                <a:spcPts val="0"/>
              </a:spcBef>
              <a:spcAft>
                <a:spcPts val="0"/>
              </a:spcAft>
              <a:buSzPts val="1100"/>
              <a:buChar char="-"/>
            </a:pPr>
            <a:r>
              <a:rPr lang="pt-PT"/>
              <a:t>Uma lista de departamentos</a:t>
            </a:r>
            <a:endParaRPr/>
          </a:p>
          <a:p>
            <a:pPr indent="-298450" lvl="1" marL="914400" rtl="0" algn="l">
              <a:spcBef>
                <a:spcPts val="0"/>
              </a:spcBef>
              <a:spcAft>
                <a:spcPts val="0"/>
              </a:spcAft>
              <a:buSzPts val="1100"/>
              <a:buChar char="-"/>
            </a:pPr>
            <a:r>
              <a:rPr lang="pt-PT"/>
              <a:t>Dashboard com todas as páginas existentes na webapp.</a:t>
            </a:r>
            <a:endParaRPr/>
          </a:p>
          <a:p>
            <a:pPr indent="-298450" lvl="0" marL="457200" rtl="0" algn="l">
              <a:spcBef>
                <a:spcPts val="0"/>
              </a:spcBef>
              <a:spcAft>
                <a:spcPts val="0"/>
              </a:spcAft>
              <a:buSzPts val="1100"/>
              <a:buChar char="-"/>
            </a:pPr>
            <a:r>
              <a:rPr lang="pt-PT"/>
              <a:t>Sem o login efectuado apenas é possível visualizar a dashboard.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8ae6fdfc4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8ae6fdfc4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pt-PT" sz="1200">
                <a:solidFill>
                  <a:schemeClr val="dk1"/>
                </a:solidFill>
              </a:rPr>
              <a:t>Tomás + Flávia</a:t>
            </a:r>
            <a:endParaRPr>
              <a:solidFill>
                <a:schemeClr val="dk1"/>
              </a:solidFill>
            </a:endParaRPr>
          </a:p>
          <a:p>
            <a:pPr indent="-298450" lvl="0" marL="457200" rtl="0" algn="l">
              <a:spcBef>
                <a:spcPts val="0"/>
              </a:spcBef>
              <a:spcAft>
                <a:spcPts val="0"/>
              </a:spcAft>
              <a:buSzPts val="1100"/>
              <a:buChar char="-"/>
            </a:pPr>
            <a:r>
              <a:rPr lang="pt-PT"/>
              <a:t>Clicando no departamento (Seja mapa ou lista) ou num switch somos redirecionados para a página  onde podemos ver um múltiplos racks divididos por switches onde em cada rack estão os vários bastiões desse switch. Nesta página estão os múltiplos switches do departamento em questão</a:t>
            </a:r>
            <a:endParaRPr/>
          </a:p>
          <a:p>
            <a:pPr indent="-298450" lvl="0" marL="457200" rtl="0" algn="l">
              <a:spcBef>
                <a:spcPts val="0"/>
              </a:spcBef>
              <a:spcAft>
                <a:spcPts val="0"/>
              </a:spcAft>
              <a:buSzPts val="1100"/>
              <a:buChar char="-"/>
            </a:pPr>
            <a:r>
              <a:rPr lang="pt-PT"/>
              <a:t>Temos uma pequena table onde podemos ver algumas informações do switch em questão</a:t>
            </a:r>
            <a:endParaRPr/>
          </a:p>
          <a:p>
            <a:pPr indent="-298450" lvl="0" marL="457200" rtl="0" algn="l">
              <a:spcBef>
                <a:spcPts val="0"/>
              </a:spcBef>
              <a:spcAft>
                <a:spcPts val="0"/>
              </a:spcAft>
              <a:buSzPts val="1100"/>
              <a:buChar char="-"/>
            </a:pPr>
            <a:r>
              <a:rPr lang="pt-PT"/>
              <a:t>Podemos efetuar um pedido para atualizar os valores de cache da bd</a:t>
            </a:r>
            <a:endParaRPr/>
          </a:p>
          <a:p>
            <a:pPr indent="-298450" lvl="0" marL="457200" rtl="0" algn="l">
              <a:spcBef>
                <a:spcPts val="0"/>
              </a:spcBef>
              <a:spcAft>
                <a:spcPts val="0"/>
              </a:spcAft>
              <a:buSzPts val="1100"/>
              <a:buChar char="-"/>
            </a:pPr>
            <a:r>
              <a:rPr lang="pt-PT"/>
              <a:t>Consultar o uptime do switch</a:t>
            </a:r>
            <a:endParaRPr/>
          </a:p>
          <a:p>
            <a:pPr indent="-298450" lvl="0" marL="457200" rtl="0" algn="l">
              <a:spcBef>
                <a:spcPts val="0"/>
              </a:spcBef>
              <a:spcAft>
                <a:spcPts val="0"/>
              </a:spcAft>
              <a:buSzPts val="1100"/>
              <a:buChar char="-"/>
            </a:pPr>
            <a:r>
              <a:rPr lang="pt-PT"/>
              <a:t>E, sendo redirecionados para outra página, ver as portas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8ae6fdfc4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8ae6fdfc4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pt-PT" sz="1200">
                <a:solidFill>
                  <a:schemeClr val="dk1"/>
                </a:solidFill>
              </a:rPr>
              <a:t>Tomás + Flávia</a:t>
            </a:r>
            <a:endParaRPr>
              <a:solidFill>
                <a:schemeClr val="dk1"/>
              </a:solidFill>
            </a:endParaRPr>
          </a:p>
          <a:p>
            <a:pPr indent="-298450" lvl="0" marL="457200" rtl="0" algn="l">
              <a:spcBef>
                <a:spcPts val="0"/>
              </a:spcBef>
              <a:spcAft>
                <a:spcPts val="0"/>
              </a:spcAft>
              <a:buSzPts val="1100"/>
              <a:buChar char="-"/>
            </a:pPr>
            <a:r>
              <a:rPr lang="pt-PT"/>
              <a:t>Na página das portas do switch em questão temos uma tabela que oferece bastante feedback visual ao utilizador com cores e símbolos.</a:t>
            </a:r>
            <a:endParaRPr/>
          </a:p>
          <a:p>
            <a:pPr indent="-298450" lvl="0" marL="457200" rtl="0" algn="l">
              <a:spcBef>
                <a:spcPts val="0"/>
              </a:spcBef>
              <a:spcAft>
                <a:spcPts val="0"/>
              </a:spcAft>
              <a:buSzPts val="1100"/>
              <a:buChar char="-"/>
            </a:pPr>
            <a:r>
              <a:rPr lang="pt-PT"/>
              <a:t>É possível observar: </a:t>
            </a:r>
            <a:r>
              <a:rPr lang="pt-PT" sz="1200">
                <a:solidFill>
                  <a:schemeClr val="dk1"/>
                </a:solidFill>
              </a:rPr>
              <a:t>interface, description, access vlan, native vlan, trunking vlans, duplex, speed, link status, protocol status, admin mode, mode, switch port and switch port negotiation. (NÃO DIZER TODAS, DIZER SÓ ALGUMAS E NO FIM </a:t>
            </a:r>
            <a:r>
              <a:rPr lang="pt-PT" sz="1200" u="sng">
                <a:solidFill>
                  <a:schemeClr val="dk1"/>
                </a:solidFill>
              </a:rPr>
              <a:t>entre outras</a:t>
            </a:r>
            <a:r>
              <a:rPr lang="pt-PT"/>
              <a:t>)</a:t>
            </a:r>
            <a:endParaRPr/>
          </a:p>
          <a:p>
            <a:pPr indent="-298450" lvl="0" marL="457200" rtl="0" algn="l">
              <a:spcBef>
                <a:spcPts val="0"/>
              </a:spcBef>
              <a:spcAft>
                <a:spcPts val="0"/>
              </a:spcAft>
              <a:buSzPts val="1100"/>
              <a:buChar char="-"/>
            </a:pPr>
            <a:r>
              <a:rPr lang="pt-PT"/>
              <a:t>A tabela também ela é paginada, permite pesquisa, ordenação, etc</a:t>
            </a:r>
            <a:endParaRPr/>
          </a:p>
          <a:p>
            <a:pPr indent="-298450" lvl="0" marL="457200" rtl="0" algn="l">
              <a:spcBef>
                <a:spcPts val="0"/>
              </a:spcBef>
              <a:spcAft>
                <a:spcPts val="0"/>
              </a:spcAft>
              <a:buSzPts val="1100"/>
              <a:buChar char="-"/>
            </a:pPr>
            <a:r>
              <a:rPr lang="pt-PT"/>
              <a:t>É também possível alterar o estado das portas, dando enable e disable administrativamente</a:t>
            </a:r>
            <a:endParaRPr/>
          </a:p>
          <a:p>
            <a:pPr indent="-298450" lvl="0" marL="457200" rtl="0" algn="l">
              <a:spcBef>
                <a:spcPts val="0"/>
              </a:spcBef>
              <a:spcAft>
                <a:spcPts val="0"/>
              </a:spcAft>
              <a:buSzPts val="1100"/>
              <a:buChar char="-"/>
            </a:pPr>
            <a:r>
              <a:rPr lang="pt-PT"/>
              <a:t>É também possível consultar os logs às portas em questão</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8ae6fdfc4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8ae6fdfc4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pt-PT" sz="1200">
                <a:solidFill>
                  <a:schemeClr val="dk1"/>
                </a:solidFill>
              </a:rPr>
              <a:t>Tomás + Flávia</a:t>
            </a:r>
            <a:endParaRPr>
              <a:solidFill>
                <a:schemeClr val="dk1"/>
              </a:solidFill>
            </a:endParaRPr>
          </a:p>
          <a:p>
            <a:pPr indent="-298450" lvl="0" marL="457200" rtl="0" algn="l">
              <a:spcBef>
                <a:spcPts val="0"/>
              </a:spcBef>
              <a:spcAft>
                <a:spcPts val="0"/>
              </a:spcAft>
              <a:buSzPts val="1100"/>
              <a:buChar char="-"/>
            </a:pPr>
            <a:r>
              <a:rPr lang="pt-PT"/>
              <a:t>Passando à parte de gestão dos switches temos a opção de adicionar novos switches à base de dados, especificando o ip, os dados de acesso, qual o tipo de plataforma e o seu departamento.</a:t>
            </a:r>
            <a:endParaRPr/>
          </a:p>
          <a:p>
            <a:pPr indent="-298450" lvl="1" marL="914400" rtl="0" algn="l">
              <a:spcBef>
                <a:spcPts val="0"/>
              </a:spcBef>
              <a:spcAft>
                <a:spcPts val="0"/>
              </a:spcAft>
              <a:buSzPts val="1100"/>
              <a:buChar char="-"/>
            </a:pPr>
            <a:r>
              <a:rPr lang="pt-PT"/>
              <a:t>Posto isto, a webapp adiciona o switch logo à base de dados com as informações que tem e, assincronamente, o worker irá tratar de completar o resto das infos (infos do switch e das portas) e, depois irá retornar esses valores para um endpoint da webapp</a:t>
            </a:r>
            <a:endParaRPr/>
          </a:p>
          <a:p>
            <a:pPr indent="-298450" lvl="0" marL="457200" rtl="0" algn="l">
              <a:spcBef>
                <a:spcPts val="0"/>
              </a:spcBef>
              <a:spcAft>
                <a:spcPts val="0"/>
              </a:spcAft>
              <a:buSzPts val="1100"/>
              <a:buChar char="-"/>
            </a:pPr>
            <a:r>
              <a:rPr lang="pt-PT"/>
              <a:t>Temos também a parte de dar update dos valores do switch, ou até mesmo apagá-lo. Poderá alterar o departamento, os dados de acesso e a plataforma, os outros valores não são alteráveis.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8ae6fdfc4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8ae6fdfc4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pt-PT" sz="1200">
                <a:solidFill>
                  <a:schemeClr val="dk1"/>
                </a:solidFill>
              </a:rPr>
              <a:t>Tomás + Flávia</a:t>
            </a:r>
            <a:endParaRPr>
              <a:solidFill>
                <a:schemeClr val="dk1"/>
              </a:solidFill>
            </a:endParaRPr>
          </a:p>
          <a:p>
            <a:pPr indent="-298450" lvl="0" marL="457200" rtl="0" algn="l">
              <a:spcBef>
                <a:spcPts val="0"/>
              </a:spcBef>
              <a:spcAft>
                <a:spcPts val="0"/>
              </a:spcAft>
              <a:buSzPts val="1100"/>
              <a:buChar char="-"/>
            </a:pPr>
            <a:r>
              <a:rPr lang="pt-PT"/>
              <a:t>As estatísticas e uma boa representação visual/gráfica foram, desde o início, uma parte importante na nossa plataforma, sendo uma funcionalidade bastante apoiada pelo nosso mentor, JPB.</a:t>
            </a:r>
            <a:endParaRPr/>
          </a:p>
          <a:p>
            <a:pPr indent="-298450" lvl="0" marL="457200" rtl="0" algn="l">
              <a:spcBef>
                <a:spcPts val="0"/>
              </a:spcBef>
              <a:spcAft>
                <a:spcPts val="0"/>
              </a:spcAft>
              <a:buSzPts val="1100"/>
              <a:buChar char="-"/>
            </a:pPr>
            <a:r>
              <a:rPr lang="pt-PT"/>
              <a:t>Quanto às estatísticas, temos o número de switches por departamento e o número de switches por hardware </a:t>
            </a:r>
            <a:r>
              <a:rPr b="1" lang="pt-PT"/>
              <a:t>E POR PLATAFORMA</a:t>
            </a:r>
            <a:endParaRPr b="1"/>
          </a:p>
          <a:p>
            <a:pPr indent="-298450" lvl="0" marL="457200" rtl="0" algn="l">
              <a:spcBef>
                <a:spcPts val="0"/>
              </a:spcBef>
              <a:spcAft>
                <a:spcPts val="0"/>
              </a:spcAft>
              <a:buSzPts val="1100"/>
              <a:buChar char="-"/>
            </a:pPr>
            <a:r>
              <a:rPr b="1" lang="pt-PT"/>
              <a:t>TEMOS TAMBÉM O NÚMERO DE LOGS POR TIPO</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8ae6fdfc4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8ae6fdfc4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pt-PT" sz="1200">
                <a:solidFill>
                  <a:schemeClr val="dk1"/>
                </a:solidFill>
              </a:rPr>
              <a:t>Tomás + Flávia</a:t>
            </a:r>
            <a:endParaRPr>
              <a:solidFill>
                <a:schemeClr val="dk1"/>
              </a:solidFill>
            </a:endParaRPr>
          </a:p>
          <a:p>
            <a:pPr indent="-298450" lvl="0" marL="457200" rtl="0" algn="l">
              <a:spcBef>
                <a:spcPts val="0"/>
              </a:spcBef>
              <a:spcAft>
                <a:spcPts val="0"/>
              </a:spcAft>
              <a:buSzPts val="1100"/>
              <a:buChar char="-"/>
            </a:pPr>
            <a:r>
              <a:rPr lang="pt-PT"/>
              <a:t>Continuando a parte da boa representação gráfica, foi-nos proposto pelo nosso mentor desenhar uma vista de como as VLANS se conectam entre elas pelos switches e também dentro dos departamentos</a:t>
            </a:r>
            <a:endParaRPr/>
          </a:p>
          <a:p>
            <a:pPr indent="-298450" lvl="0" marL="457200" rtl="0" algn="l">
              <a:spcBef>
                <a:spcPts val="0"/>
              </a:spcBef>
              <a:spcAft>
                <a:spcPts val="0"/>
              </a:spcAft>
              <a:buSzPts val="1100"/>
              <a:buChar char="-"/>
            </a:pPr>
            <a:r>
              <a:rPr lang="pt-PT"/>
              <a:t>è possível arrastar os nodes que representam switches, quanto maior o número de switches na base de dados, maiores estas “teias” se tornam</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8ae6fdfc4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8ae6fdfc4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pt-PT" sz="1200">
                <a:solidFill>
                  <a:schemeClr val="dk1"/>
                </a:solidFill>
              </a:rPr>
              <a:t>Tomás + Flávia</a:t>
            </a:r>
            <a:endParaRPr>
              <a:solidFill>
                <a:schemeClr val="dk1"/>
              </a:solidFill>
            </a:endParaRPr>
          </a:p>
          <a:p>
            <a:pPr indent="-298450" lvl="0" marL="457200" rtl="0" algn="l">
              <a:spcBef>
                <a:spcPts val="0"/>
              </a:spcBef>
              <a:spcAft>
                <a:spcPts val="0"/>
              </a:spcAft>
              <a:buSzPts val="1100"/>
              <a:buChar char="-"/>
            </a:pPr>
            <a:r>
              <a:rPr lang="pt-PT"/>
              <a:t>Poder saber quem fez o quê, onde e quando, é algo extremamente importante quando manuseando switches, por isso temos um registo de logs identificados com um ID para ser possível identificar, qual a ação tomada, o switch em questão que sofreu as alterações, quem o fez e a data da alteração.</a:t>
            </a:r>
            <a:endParaRPr/>
          </a:p>
          <a:p>
            <a:pPr indent="0" lvl="0" marL="0" rtl="0" algn="l">
              <a:spcBef>
                <a:spcPts val="0"/>
              </a:spcBef>
              <a:spcAft>
                <a:spcPts val="0"/>
              </a:spcAft>
              <a:buNone/>
            </a:pPr>
            <a:r>
              <a:rPr lang="pt-PT"/>
              <a:t>	</a:t>
            </a:r>
            <a:r>
              <a:rPr b="1" lang="pt-PT"/>
              <a:t>--&gt;</a:t>
            </a:r>
            <a:r>
              <a:rPr lang="pt-PT"/>
              <a:t>(maybe realçar mais o quanto facilitam troubleshooting) </a:t>
            </a:r>
            <a:endParaRPr/>
          </a:p>
          <a:p>
            <a:pPr indent="-298450" lvl="0" marL="457200" rtl="0" algn="l">
              <a:spcBef>
                <a:spcPts val="0"/>
              </a:spcBef>
              <a:spcAft>
                <a:spcPts val="0"/>
              </a:spcAft>
              <a:buSzPts val="1100"/>
              <a:buChar char="-"/>
            </a:pPr>
            <a:r>
              <a:rPr lang="pt-PT"/>
              <a:t>Uma vez mais, tudo é pesquisável, possível de ordenar para uma fácil consulta</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8a25f3db8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8a25f3db8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pt-PT" sz="1200">
                <a:solidFill>
                  <a:schemeClr val="dk1"/>
                </a:solidFill>
              </a:rPr>
              <a:t>Diogo</a:t>
            </a:r>
            <a:endParaRPr b="1" sz="12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pt-PT"/>
              <a:t>O worker é uma aplicação django desenvolvida por nós para executar em middleground entre a aplicação web e os switches.</a:t>
            </a:r>
            <a:endParaRPr/>
          </a:p>
          <a:p>
            <a:pPr indent="0" lvl="0" marL="0" rtl="0" algn="l">
              <a:spcBef>
                <a:spcPts val="0"/>
              </a:spcBef>
              <a:spcAft>
                <a:spcPts val="0"/>
              </a:spcAft>
              <a:buNone/>
            </a:pPr>
            <a:r>
              <a:rPr lang="pt-PT"/>
              <a:t>Implementa um sistema de filas com celery para poder receber múltiplos pedidos e poder realizar essas tarefas independentemente uma das outras. Com isto, conseguimos realizar pedidos da webapp para o worker de forma assíncrona.</a:t>
            </a:r>
            <a:endParaRPr/>
          </a:p>
          <a:p>
            <a:pPr indent="0" lvl="0" marL="0" rtl="0" algn="l">
              <a:spcBef>
                <a:spcPts val="0"/>
              </a:spcBef>
              <a:spcAft>
                <a:spcPts val="0"/>
              </a:spcAft>
              <a:buNone/>
            </a:pPr>
            <a:r>
              <a:t/>
            </a:r>
            <a:endParaRPr/>
          </a:p>
          <a:p>
            <a:pPr indent="0" lvl="0" marL="0" rtl="0" algn="l">
              <a:spcBef>
                <a:spcPts val="0"/>
              </a:spcBef>
              <a:spcAft>
                <a:spcPts val="0"/>
              </a:spcAft>
              <a:buNone/>
            </a:pPr>
            <a:r>
              <a:rPr lang="pt-PT"/>
              <a:t>Para o desenvolvimento desta aplicação foi necessária alguma pesquisa sobre switches, mais especificamente sobre os comandos para realizar as diversas operações.</a:t>
            </a:r>
            <a:endParaRPr/>
          </a:p>
          <a:p>
            <a:pPr indent="0" lvl="0" marL="0" rtl="0" algn="l">
              <a:spcBef>
                <a:spcPts val="0"/>
              </a:spcBef>
              <a:spcAft>
                <a:spcPts val="0"/>
              </a:spcAft>
              <a:buNone/>
            </a:pPr>
            <a:r>
              <a:rPr lang="pt-PT"/>
              <a:t>Existem 4 endpoints, que permitem:</a:t>
            </a:r>
            <a:endParaRPr/>
          </a:p>
          <a:p>
            <a:pPr indent="-298450" lvl="0" marL="457200" rtl="0" algn="l">
              <a:spcBef>
                <a:spcPts val="0"/>
              </a:spcBef>
              <a:spcAft>
                <a:spcPts val="0"/>
              </a:spcAft>
              <a:buSzPts val="1100"/>
              <a:buChar char="-"/>
            </a:pPr>
            <a:r>
              <a:rPr lang="pt-PT">
                <a:solidFill>
                  <a:schemeClr val="dk1"/>
                </a:solidFill>
              </a:rPr>
              <a:t>executar operações</a:t>
            </a:r>
            <a:endParaRPr>
              <a:solidFill>
                <a:schemeClr val="dk1"/>
              </a:solidFill>
            </a:endParaRPr>
          </a:p>
          <a:p>
            <a:pPr indent="-298450" lvl="0" marL="457200" rtl="0" algn="l">
              <a:spcBef>
                <a:spcPts val="0"/>
              </a:spcBef>
              <a:spcAft>
                <a:spcPts val="0"/>
              </a:spcAft>
              <a:buClr>
                <a:schemeClr val="dk1"/>
              </a:buClr>
              <a:buSzPts val="1100"/>
              <a:buChar char="-"/>
            </a:pPr>
            <a:r>
              <a:rPr lang="pt-PT">
                <a:solidFill>
                  <a:schemeClr val="dk1"/>
                </a:solidFill>
              </a:rPr>
              <a:t>e outro para inserir novas operações</a:t>
            </a:r>
            <a:endParaRPr>
              <a:solidFill>
                <a:schemeClr val="dk1"/>
              </a:solidFill>
            </a:endParaRPr>
          </a:p>
          <a:p>
            <a:pPr indent="-298450" lvl="0" marL="457200" rtl="0" algn="l">
              <a:spcBef>
                <a:spcPts val="0"/>
              </a:spcBef>
              <a:spcAft>
                <a:spcPts val="0"/>
              </a:spcAft>
              <a:buClr>
                <a:schemeClr val="dk1"/>
              </a:buClr>
              <a:buSzPts val="1100"/>
              <a:buChar char="-"/>
            </a:pPr>
            <a:r>
              <a:rPr lang="pt-PT"/>
              <a:t>ir buscar o resultados das tarefas</a:t>
            </a:r>
            <a:endParaRPr/>
          </a:p>
          <a:p>
            <a:pPr indent="-298450" lvl="0" marL="457200" rtl="0" algn="l">
              <a:spcBef>
                <a:spcPts val="0"/>
              </a:spcBef>
              <a:spcAft>
                <a:spcPts val="0"/>
              </a:spcAft>
              <a:buClr>
                <a:schemeClr val="dk1"/>
              </a:buClr>
              <a:buSzPts val="1100"/>
              <a:buChar char="-"/>
            </a:pPr>
            <a:r>
              <a:rPr lang="pt-PT"/>
              <a:t>ir buscar as infos dos switches para inserir na base de dados</a:t>
            </a:r>
            <a:endParaRPr/>
          </a:p>
          <a:p>
            <a:pPr indent="0" lvl="0" marL="0" rtl="0" algn="l">
              <a:spcBef>
                <a:spcPts val="0"/>
              </a:spcBef>
              <a:spcAft>
                <a:spcPts val="0"/>
              </a:spcAft>
              <a:buNone/>
            </a:pPr>
            <a:r>
              <a:t/>
            </a:r>
            <a:endParaRPr/>
          </a:p>
          <a:p>
            <a:pPr indent="0" lvl="0" marL="0" rtl="0" algn="l">
              <a:spcBef>
                <a:spcPts val="0"/>
              </a:spcBef>
              <a:spcAft>
                <a:spcPts val="0"/>
              </a:spcAft>
              <a:buNone/>
            </a:pPr>
            <a:r>
              <a:rPr lang="pt-PT"/>
              <a:t>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8a25f3db8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8a25f3db8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pt-PT" sz="1200">
                <a:solidFill>
                  <a:schemeClr val="dk1"/>
                </a:solidFill>
              </a:rPr>
              <a:t>Dias</a:t>
            </a:r>
            <a:endParaRPr b="1" sz="1200">
              <a:solidFill>
                <a:schemeClr val="dk1"/>
              </a:solidFill>
            </a:endParaRPr>
          </a:p>
          <a:p>
            <a:pPr indent="0" lvl="0" marL="0" rtl="0" algn="l">
              <a:spcBef>
                <a:spcPts val="0"/>
              </a:spcBef>
              <a:spcAft>
                <a:spcPts val="0"/>
              </a:spcAft>
              <a:buClr>
                <a:schemeClr val="dk1"/>
              </a:buClr>
              <a:buSzPts val="1100"/>
              <a:buFont typeface="Arial"/>
              <a:buNone/>
            </a:pPr>
            <a:r>
              <a:t/>
            </a:r>
            <a:endParaRPr b="1" sz="1200">
              <a:solidFill>
                <a:schemeClr val="dk1"/>
              </a:solidFill>
            </a:endParaRPr>
          </a:p>
          <a:p>
            <a:pPr indent="0" lvl="0" marL="0" rtl="0" algn="l">
              <a:spcBef>
                <a:spcPts val="0"/>
              </a:spcBef>
              <a:spcAft>
                <a:spcPts val="0"/>
              </a:spcAft>
              <a:buClr>
                <a:schemeClr val="dk1"/>
              </a:buClr>
              <a:buSzPts val="1100"/>
              <a:buFont typeface="Arial"/>
              <a:buNone/>
            </a:pPr>
            <a:r>
              <a:rPr lang="pt-PT" sz="1200">
                <a:solidFill>
                  <a:schemeClr val="dk1"/>
                </a:solidFill>
              </a:rPr>
              <a:t>Visto a autenticação com o Idp estar quase feita, o passo lógico seguinte será terminar a implementação, dado que o factor que nos impediu de o fazer foi meramente tempo</a:t>
            </a:r>
            <a:endParaRPr b="1" sz="1200" u="sng">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pt-PT" sz="1200">
                <a:solidFill>
                  <a:schemeClr val="dk1"/>
                </a:solidFill>
              </a:rPr>
              <a:t>O que a autenticação irá permitir é a existência de vários níveis de permissões na plataforma, de modo a que certas funcionalidades que requerem um maior conhecimento e de maior risco não estejam acessíveis a qualquer utilizador</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pt-PT" sz="1200">
                <a:solidFill>
                  <a:schemeClr val="dk1"/>
                </a:solidFill>
              </a:rPr>
              <a:t>Outras features que também seriam interessantes, seria permitir realizar certas tarefas diretamente nos gráficos, como do de vlans, poder utilizar drag and drop para adicionar e remover switches de uma vlan. Outro ponto de melhoria, seria aumentar o número de estatísticas e estudo de dados relacionados com o equipamento e os utilizadores. De momento já temos alguma mas é uma secção que,  definitivamente podia ser aprimorada no futuro..</a:t>
            </a:r>
            <a:endParaRPr b="1" sz="1200">
              <a:solidFill>
                <a:schemeClr val="dk1"/>
              </a:solidFill>
            </a:endParaRPr>
          </a:p>
          <a:p>
            <a:pPr indent="0" lvl="0" marL="0" rtl="0" algn="l">
              <a:spcBef>
                <a:spcPts val="0"/>
              </a:spcBef>
              <a:spcAft>
                <a:spcPts val="0"/>
              </a:spcAft>
              <a:buNone/>
            </a:pPr>
            <a:r>
              <a:t/>
            </a:r>
            <a:endParaRPr b="1" sz="1200">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8ae6fdfc4a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8ae6fdfc4a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PT" sz="1200">
                <a:solidFill>
                  <a:schemeClr val="dk1"/>
                </a:solidFill>
              </a:rPr>
              <a:t>???</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Clr>
                <a:schemeClr val="dk1"/>
              </a:buClr>
              <a:buSzPts val="1100"/>
              <a:buFont typeface="Arial"/>
              <a:buNone/>
            </a:pPr>
            <a:r>
              <a:rPr lang="pt-PT" sz="1200">
                <a:solidFill>
                  <a:schemeClr val="dk1"/>
                </a:solidFill>
              </a:rPr>
              <a:t>passar mensagem forte sobre qual é o objetivo, oqeq fizemos, oqeq desbravamos, explicar que a interface responde a users tecnicos e temos info q n é da nossa area de competencias, interage c dispositivos fisicos, isso explode a complexidade.</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pt-PT" sz="1200">
                <a:solidFill>
                  <a:schemeClr val="dk1"/>
                </a:solidFill>
              </a:rPr>
              <a:t>houve coisas q fizemos pq modelamos as classes para receber qql tipo de switch e isso nao se nota, mas ta la e é importante, fazer questao de mostrar isso. </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pt-PT" sz="1200">
                <a:solidFill>
                  <a:schemeClr val="dk1"/>
                </a:solidFill>
              </a:rPr>
              <a:t>Falar q isto ta pronto para usar, ha um trabalho e preocupaçao da nossa parte para deixar isto como pronto para usar quem vier a seguir, nao é um trabalho para ficar na gaveta. Se os stic quiserem usar isto no futuro ta pronto para poder ser adaptavel</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pt-PT" sz="1200">
                <a:solidFill>
                  <a:schemeClr val="dk1"/>
                </a:solidFill>
              </a:rPr>
              <a:t>passar esta mensagem ^^^</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8a25f3db8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8a25f3db8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PT" sz="1200">
                <a:solidFill>
                  <a:schemeClr val="dk1"/>
                </a:solidFill>
              </a:rPr>
              <a:t>Tomás</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298450" lvl="0" marL="457200" rtl="0" algn="l">
              <a:spcBef>
                <a:spcPts val="0"/>
              </a:spcBef>
              <a:spcAft>
                <a:spcPts val="0"/>
              </a:spcAft>
              <a:buSzPts val="1100"/>
              <a:buChar char="-"/>
            </a:pPr>
            <a:r>
              <a:rPr lang="pt-PT"/>
              <a:t>Gostaríamos de agradecer, em primeiro lugar, ao professor JPB porque nos acompanhou neste projeto do início ao fim nesta fase nova para todos, da COVID e ao Cláudio Teixeira pelo apoio prestado.</a:t>
            </a:r>
            <a:endParaRPr/>
          </a:p>
          <a:p>
            <a:pPr indent="-298450" lvl="0" marL="457200" rtl="0" algn="l">
              <a:spcBef>
                <a:spcPts val="0"/>
              </a:spcBef>
              <a:spcAft>
                <a:spcPts val="0"/>
              </a:spcAft>
              <a:buSzPts val="1100"/>
              <a:buChar char="-"/>
            </a:pPr>
            <a:r>
              <a:rPr lang="pt-PT"/>
              <a:t>Ao José Ramalho dos stic que nos ajudou bastante com o IDP da UA mas, infelizmente, não foi possível implementar.</a:t>
            </a:r>
            <a:endParaRPr/>
          </a:p>
          <a:p>
            <a:pPr indent="-298450" lvl="0" marL="457200" rtl="0" algn="l">
              <a:spcBef>
                <a:spcPts val="0"/>
              </a:spcBef>
              <a:spcAft>
                <a:spcPts val="0"/>
              </a:spcAft>
              <a:buSzPts val="1100"/>
              <a:buChar char="-"/>
            </a:pPr>
            <a:r>
              <a:rPr lang="pt-PT"/>
              <a:t>A todos os restantes membros dos stic com quem tivemos o prazer de trabalhar</a:t>
            </a:r>
            <a:endParaRPr/>
          </a:p>
          <a:p>
            <a:pPr indent="-298450" lvl="0" marL="457200" rtl="0" algn="l">
              <a:spcBef>
                <a:spcPts val="0"/>
              </a:spcBef>
              <a:spcAft>
                <a:spcPts val="0"/>
              </a:spcAft>
              <a:buSzPts val="1100"/>
              <a:buChar char="-"/>
            </a:pPr>
            <a:r>
              <a:rPr lang="pt-PT"/>
              <a:t>Por fim, aos docentes da disciplina pelo apoio prestado e por todos os conhecimentos partilhados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8ae6fdfc4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8ae6fdfc4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P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303425"/>
            <a:ext cx="8520600" cy="939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PT"/>
              <a:t>Self-Service Campus</a:t>
            </a:r>
            <a:endParaRPr/>
          </a:p>
        </p:txBody>
      </p:sp>
      <p:sp>
        <p:nvSpPr>
          <p:cNvPr id="55" name="Google Shape;55;p13"/>
          <p:cNvSpPr txBox="1"/>
          <p:nvPr>
            <p:ph idx="1" type="subTitle"/>
          </p:nvPr>
        </p:nvSpPr>
        <p:spPr>
          <a:xfrm>
            <a:off x="311700" y="1465050"/>
            <a:ext cx="8520600" cy="327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PT" sz="1600"/>
              <a:t>89296 - Tomás Batista</a:t>
            </a:r>
            <a:endParaRPr sz="1600"/>
          </a:p>
          <a:p>
            <a:pPr indent="0" lvl="0" marL="0" rtl="0" algn="ctr">
              <a:spcBef>
                <a:spcPts val="0"/>
              </a:spcBef>
              <a:spcAft>
                <a:spcPts val="0"/>
              </a:spcAft>
              <a:buNone/>
            </a:pPr>
            <a:r>
              <a:rPr lang="pt-PT" sz="1600"/>
              <a:t>88887 - Flávia Figueiredo</a:t>
            </a:r>
            <a:endParaRPr sz="1600"/>
          </a:p>
          <a:p>
            <a:pPr indent="0" lvl="0" marL="0" rtl="0" algn="ctr">
              <a:spcBef>
                <a:spcPts val="0"/>
              </a:spcBef>
              <a:spcAft>
                <a:spcPts val="0"/>
              </a:spcAft>
              <a:buNone/>
            </a:pPr>
            <a:r>
              <a:rPr lang="pt-PT" sz="1600"/>
              <a:t>89236 - João Dias</a:t>
            </a:r>
            <a:endParaRPr sz="1600"/>
          </a:p>
          <a:p>
            <a:pPr indent="0" lvl="0" marL="0" rtl="0" algn="ctr">
              <a:spcBef>
                <a:spcPts val="0"/>
              </a:spcBef>
              <a:spcAft>
                <a:spcPts val="0"/>
              </a:spcAft>
              <a:buNone/>
            </a:pPr>
            <a:r>
              <a:rPr lang="pt-PT" sz="1600"/>
              <a:t>89265 - Diogo Andrade</a:t>
            </a:r>
            <a:endParaRPr sz="1600"/>
          </a:p>
          <a:p>
            <a:pPr indent="0" lvl="0" marL="0" rtl="0" algn="ctr">
              <a:spcBef>
                <a:spcPts val="0"/>
              </a:spcBef>
              <a:spcAft>
                <a:spcPts val="0"/>
              </a:spcAft>
              <a:buNone/>
            </a:pPr>
            <a:r>
              <a:rPr lang="pt-PT" sz="1600"/>
              <a:t>mentores…</a:t>
            </a:r>
            <a:endParaRPr sz="1600"/>
          </a:p>
          <a:p>
            <a:pPr indent="0" lvl="0" marL="0" rtl="0" algn="ctr">
              <a:spcBef>
                <a:spcPts val="0"/>
              </a:spcBef>
              <a:spcAft>
                <a:spcPts val="0"/>
              </a:spcAft>
              <a:buNone/>
            </a:pPr>
            <a:r>
              <a:rPr lang="pt-PT" sz="1600"/>
              <a:t>simbolo ua</a:t>
            </a:r>
            <a:endParaRPr sz="1600"/>
          </a:p>
          <a:p>
            <a:pPr indent="0" lvl="0" marL="0" rtl="0" algn="ctr">
              <a:spcBef>
                <a:spcPts val="0"/>
              </a:spcBef>
              <a:spcAft>
                <a:spcPts val="0"/>
              </a:spcAft>
              <a:buNone/>
            </a:pPr>
            <a:r>
              <a:rPr lang="pt-PT" sz="1600"/>
              <a:t>simbolo deti</a:t>
            </a:r>
            <a:endParaRPr sz="1600"/>
          </a:p>
          <a:p>
            <a:pPr indent="0" lvl="0" marL="0" rtl="0" algn="ctr">
              <a:spcBef>
                <a:spcPts val="0"/>
              </a:spcBef>
              <a:spcAft>
                <a:spcPts val="0"/>
              </a:spcAft>
              <a:buNone/>
            </a:pPr>
            <a:r>
              <a:t/>
            </a:r>
            <a:endParaRPr sz="1600"/>
          </a:p>
          <a:p>
            <a:pPr indent="0" lvl="0" marL="0" rtl="0" algn="ctr">
              <a:spcBef>
                <a:spcPts val="0"/>
              </a:spcBef>
              <a:spcAft>
                <a:spcPts val="0"/>
              </a:spcAft>
              <a:buNone/>
            </a:pPr>
            <a:r>
              <a:rPr lang="pt-PT" sz="1600"/>
              <a:t>PI - LEI - UA - DETI </a:t>
            </a:r>
            <a:endParaRPr sz="1600"/>
          </a:p>
          <a:p>
            <a:pPr indent="0" lvl="0" marL="0" rtl="0" algn="ctr">
              <a:spcBef>
                <a:spcPts val="0"/>
              </a:spcBef>
              <a:spcAft>
                <a:spcPts val="0"/>
              </a:spcAft>
              <a:buNone/>
            </a:pPr>
            <a:r>
              <a:rPr lang="pt-PT" sz="1600"/>
              <a:t>2020</a:t>
            </a:r>
            <a:endParaRPr sz="1600"/>
          </a:p>
          <a:p>
            <a:pPr indent="0" lvl="0" marL="0" rtl="0" algn="ctr">
              <a:spcBef>
                <a:spcPts val="0"/>
              </a:spcBef>
              <a:spcAft>
                <a:spcPts val="0"/>
              </a:spcAft>
              <a:buNone/>
            </a:pPr>
            <a:r>
              <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Context</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Related Software</a:t>
            </a:r>
            <a:endParaRPr/>
          </a:p>
        </p:txBody>
      </p:sp>
      <p:sp>
        <p:nvSpPr>
          <p:cNvPr id="67" name="Google Shape;67;p15"/>
          <p:cNvSpPr txBox="1"/>
          <p:nvPr>
            <p:ph idx="1" type="body"/>
          </p:nvPr>
        </p:nvSpPr>
        <p:spPr>
          <a:xfrm>
            <a:off x="565025" y="1681675"/>
            <a:ext cx="3023400" cy="2457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pt-PT"/>
              <a:t>Solawinds</a:t>
            </a:r>
            <a:endParaRPr/>
          </a:p>
        </p:txBody>
      </p:sp>
      <p:sp>
        <p:nvSpPr>
          <p:cNvPr id="68" name="Google Shape;68;p15"/>
          <p:cNvSpPr txBox="1"/>
          <p:nvPr>
            <p:ph idx="1" type="body"/>
          </p:nvPr>
        </p:nvSpPr>
        <p:spPr>
          <a:xfrm>
            <a:off x="5079875" y="1651100"/>
            <a:ext cx="3023400" cy="2457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pt-PT"/>
              <a:t>Kaseya</a:t>
            </a:r>
            <a:endParaRPr/>
          </a:p>
        </p:txBody>
      </p:sp>
      <p:pic>
        <p:nvPicPr>
          <p:cNvPr id="69" name="Google Shape;69;p15"/>
          <p:cNvPicPr preferRelativeResize="0"/>
          <p:nvPr/>
        </p:nvPicPr>
        <p:blipFill>
          <a:blip r:embed="rId3">
            <a:alphaModFix/>
          </a:blip>
          <a:stretch>
            <a:fillRect/>
          </a:stretch>
        </p:blipFill>
        <p:spPr>
          <a:xfrm>
            <a:off x="5079875" y="2106872"/>
            <a:ext cx="3695700" cy="2270216"/>
          </a:xfrm>
          <a:prstGeom prst="rect">
            <a:avLst/>
          </a:prstGeom>
          <a:noFill/>
          <a:ln>
            <a:noFill/>
          </a:ln>
        </p:spPr>
      </p:pic>
      <p:pic>
        <p:nvPicPr>
          <p:cNvPr id="70" name="Google Shape;70;p15"/>
          <p:cNvPicPr preferRelativeResize="0"/>
          <p:nvPr/>
        </p:nvPicPr>
        <p:blipFill>
          <a:blip r:embed="rId4">
            <a:alphaModFix/>
          </a:blip>
          <a:stretch>
            <a:fillRect/>
          </a:stretch>
        </p:blipFill>
        <p:spPr>
          <a:xfrm>
            <a:off x="529825" y="2164000"/>
            <a:ext cx="3832800" cy="21559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Actors &amp; Use Cases</a:t>
            </a:r>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Domain Model</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83" name="Google Shape;83;p17"/>
          <p:cNvPicPr preferRelativeResize="0"/>
          <p:nvPr/>
        </p:nvPicPr>
        <p:blipFill>
          <a:blip r:embed="rId3">
            <a:alphaModFix/>
          </a:blip>
          <a:stretch>
            <a:fillRect/>
          </a:stretch>
        </p:blipFill>
        <p:spPr>
          <a:xfrm>
            <a:off x="4408750" y="1160450"/>
            <a:ext cx="3400425" cy="3400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Technological Diagram</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90" name="Google Shape;90;p18"/>
          <p:cNvPicPr preferRelativeResize="0"/>
          <p:nvPr/>
        </p:nvPicPr>
        <p:blipFill>
          <a:blip r:embed="rId3">
            <a:alphaModFix/>
          </a:blip>
          <a:stretch>
            <a:fillRect/>
          </a:stretch>
        </p:blipFill>
        <p:spPr>
          <a:xfrm>
            <a:off x="4739516" y="405149"/>
            <a:ext cx="4092784" cy="4646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409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sz="7000"/>
          </a:p>
          <a:p>
            <a:pPr indent="0" lvl="0" marL="0" rtl="0" algn="ctr">
              <a:spcBef>
                <a:spcPts val="0"/>
              </a:spcBef>
              <a:spcAft>
                <a:spcPts val="0"/>
              </a:spcAft>
              <a:buNone/>
            </a:pPr>
            <a:r>
              <a:rPr lang="pt-PT" sz="7000"/>
              <a:t>WebApp</a:t>
            </a:r>
            <a:endParaRPr sz="7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Authentication</a:t>
            </a:r>
            <a:endParaRPr/>
          </a:p>
        </p:txBody>
      </p:sp>
      <p:sp>
        <p:nvSpPr>
          <p:cNvPr id="101" name="Google Shape;101;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Dashboard</a:t>
            </a:r>
            <a:endParaRPr/>
          </a:p>
        </p:txBody>
      </p:sp>
      <p:sp>
        <p:nvSpPr>
          <p:cNvPr id="107" name="Google Shape;107;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08" name="Google Shape;108;p21"/>
          <p:cNvPicPr preferRelativeResize="0"/>
          <p:nvPr/>
        </p:nvPicPr>
        <p:blipFill>
          <a:blip r:embed="rId3">
            <a:alphaModFix/>
          </a:blip>
          <a:stretch>
            <a:fillRect/>
          </a:stretch>
        </p:blipFill>
        <p:spPr>
          <a:xfrm>
            <a:off x="1110900" y="1379925"/>
            <a:ext cx="6922199" cy="3495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Rack</a:t>
            </a:r>
            <a:endParaRPr/>
          </a:p>
        </p:txBody>
      </p:sp>
      <p:sp>
        <p:nvSpPr>
          <p:cNvPr id="114" name="Google Shape;114;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15" name="Google Shape;115;p22"/>
          <p:cNvPicPr preferRelativeResize="0"/>
          <p:nvPr/>
        </p:nvPicPr>
        <p:blipFill>
          <a:blip r:embed="rId3">
            <a:alphaModFix/>
          </a:blip>
          <a:stretch>
            <a:fillRect/>
          </a:stretch>
        </p:blipFill>
        <p:spPr>
          <a:xfrm>
            <a:off x="1009363" y="1216875"/>
            <a:ext cx="7125275" cy="3598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Ports</a:t>
            </a:r>
            <a:endParaRPr/>
          </a:p>
        </p:txBody>
      </p:sp>
      <p:sp>
        <p:nvSpPr>
          <p:cNvPr id="121" name="Google Shape;121;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22" name="Google Shape;122;p23"/>
          <p:cNvPicPr preferRelativeResize="0"/>
          <p:nvPr/>
        </p:nvPicPr>
        <p:blipFill>
          <a:blip r:embed="rId3">
            <a:alphaModFix/>
          </a:blip>
          <a:stretch>
            <a:fillRect/>
          </a:stretch>
        </p:blipFill>
        <p:spPr>
          <a:xfrm>
            <a:off x="1272338" y="1417875"/>
            <a:ext cx="6599326" cy="33325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Switch Management</a:t>
            </a:r>
            <a:endParaRPr/>
          </a:p>
        </p:txBody>
      </p:sp>
      <p:sp>
        <p:nvSpPr>
          <p:cNvPr id="128" name="Google Shape;128;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29" name="Google Shape;129;p24"/>
          <p:cNvPicPr preferRelativeResize="0"/>
          <p:nvPr/>
        </p:nvPicPr>
        <p:blipFill>
          <a:blip r:embed="rId3">
            <a:alphaModFix/>
          </a:blip>
          <a:stretch>
            <a:fillRect/>
          </a:stretch>
        </p:blipFill>
        <p:spPr>
          <a:xfrm>
            <a:off x="0" y="1111900"/>
            <a:ext cx="7245999" cy="3659850"/>
          </a:xfrm>
          <a:prstGeom prst="rect">
            <a:avLst/>
          </a:prstGeom>
          <a:noFill/>
          <a:ln>
            <a:noFill/>
          </a:ln>
        </p:spPr>
      </p:pic>
      <p:pic>
        <p:nvPicPr>
          <p:cNvPr id="130" name="Google Shape;130;p24"/>
          <p:cNvPicPr preferRelativeResize="0"/>
          <p:nvPr/>
        </p:nvPicPr>
        <p:blipFill>
          <a:blip r:embed="rId4">
            <a:alphaModFix/>
          </a:blip>
          <a:stretch>
            <a:fillRect/>
          </a:stretch>
        </p:blipFill>
        <p:spPr>
          <a:xfrm>
            <a:off x="3543300" y="2314563"/>
            <a:ext cx="5600700" cy="2828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Statistics</a:t>
            </a:r>
            <a:endParaRPr/>
          </a:p>
        </p:txBody>
      </p:sp>
      <p:sp>
        <p:nvSpPr>
          <p:cNvPr id="136" name="Google Shape;136;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37" name="Google Shape;137;p25"/>
          <p:cNvPicPr preferRelativeResize="0"/>
          <p:nvPr/>
        </p:nvPicPr>
        <p:blipFill>
          <a:blip r:embed="rId3">
            <a:alphaModFix/>
          </a:blip>
          <a:stretch>
            <a:fillRect/>
          </a:stretch>
        </p:blipFill>
        <p:spPr>
          <a:xfrm>
            <a:off x="2590175" y="1578750"/>
            <a:ext cx="5734050" cy="2895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Vlans</a:t>
            </a:r>
            <a:endParaRPr/>
          </a:p>
        </p:txBody>
      </p:sp>
      <p:sp>
        <p:nvSpPr>
          <p:cNvPr id="143" name="Google Shape;143;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44" name="Google Shape;144;p26"/>
          <p:cNvPicPr preferRelativeResize="0"/>
          <p:nvPr/>
        </p:nvPicPr>
        <p:blipFill>
          <a:blip r:embed="rId3">
            <a:alphaModFix/>
          </a:blip>
          <a:stretch>
            <a:fillRect/>
          </a:stretch>
        </p:blipFill>
        <p:spPr>
          <a:xfrm>
            <a:off x="1704975" y="1941825"/>
            <a:ext cx="5734050" cy="28860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Logs</a:t>
            </a:r>
            <a:endParaRPr/>
          </a:p>
        </p:txBody>
      </p:sp>
      <p:sp>
        <p:nvSpPr>
          <p:cNvPr id="150" name="Google Shape;150;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51" name="Google Shape;151;p27"/>
          <p:cNvPicPr preferRelativeResize="0"/>
          <p:nvPr/>
        </p:nvPicPr>
        <p:blipFill>
          <a:blip r:embed="rId3">
            <a:alphaModFix/>
          </a:blip>
          <a:stretch>
            <a:fillRect/>
          </a:stretch>
        </p:blipFill>
        <p:spPr>
          <a:xfrm>
            <a:off x="1302125" y="1412875"/>
            <a:ext cx="5734050" cy="2895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Worker</a:t>
            </a:r>
            <a:endParaRPr/>
          </a:p>
        </p:txBody>
      </p:sp>
      <p:sp>
        <p:nvSpPr>
          <p:cNvPr id="157" name="Google Shape;157;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pt-PT" sz="1200">
                <a:solidFill>
                  <a:schemeClr val="dk1"/>
                </a:solidFill>
              </a:rPr>
              <a:t>The </a:t>
            </a:r>
            <a:r>
              <a:rPr b="1" lang="pt-PT" sz="1200">
                <a:solidFill>
                  <a:schemeClr val="dk1"/>
                </a:solidFill>
              </a:rPr>
              <a:t>worker </a:t>
            </a:r>
            <a:r>
              <a:rPr lang="pt-PT" sz="1200">
                <a:solidFill>
                  <a:schemeClr val="dk1"/>
                </a:solidFill>
              </a:rPr>
              <a:t>is a </a:t>
            </a:r>
            <a:r>
              <a:rPr b="1" lang="pt-PT" sz="1200">
                <a:solidFill>
                  <a:schemeClr val="dk1"/>
                </a:solidFill>
              </a:rPr>
              <a:t>Django </a:t>
            </a:r>
            <a:r>
              <a:rPr lang="pt-PT" sz="1200">
                <a:solidFill>
                  <a:schemeClr val="dk1"/>
                </a:solidFill>
              </a:rPr>
              <a:t>application integration with </a:t>
            </a:r>
            <a:r>
              <a:rPr b="1" lang="pt-PT" sz="1200">
                <a:solidFill>
                  <a:schemeClr val="dk1"/>
                </a:solidFill>
              </a:rPr>
              <a:t>Celery </a:t>
            </a:r>
            <a:r>
              <a:rPr lang="pt-PT" sz="1200">
                <a:solidFill>
                  <a:schemeClr val="dk1"/>
                </a:solidFill>
              </a:rPr>
              <a:t>using </a:t>
            </a:r>
            <a:r>
              <a:rPr b="1" lang="pt-PT" sz="1200">
                <a:solidFill>
                  <a:schemeClr val="dk1"/>
                </a:solidFill>
              </a:rPr>
              <a:t>Redis</a:t>
            </a:r>
            <a:r>
              <a:rPr lang="pt-PT" sz="1200">
                <a:solidFill>
                  <a:schemeClr val="dk1"/>
                </a:solidFill>
              </a:rPr>
              <a:t> as message</a:t>
            </a:r>
            <a:r>
              <a:rPr b="1" lang="pt-PT" sz="1200">
                <a:solidFill>
                  <a:schemeClr val="dk1"/>
                </a:solidFill>
              </a:rPr>
              <a:t> </a:t>
            </a:r>
            <a:r>
              <a:rPr lang="pt-PT" sz="1200">
                <a:solidFill>
                  <a:schemeClr val="dk1"/>
                </a:solidFill>
              </a:rPr>
              <a:t>and queue</a:t>
            </a:r>
            <a:r>
              <a:rPr b="1" lang="pt-PT" sz="1200">
                <a:solidFill>
                  <a:schemeClr val="dk1"/>
                </a:solidFill>
              </a:rPr>
              <a:t>, </a:t>
            </a:r>
            <a:r>
              <a:rPr lang="pt-PT" sz="1200">
                <a:solidFill>
                  <a:schemeClr val="dk1"/>
                </a:solidFill>
              </a:rPr>
              <a:t>made by us to connect to switches. For this connection we create a class called SwitchConnector, this one responsible for the switch connections by ssh using the </a:t>
            </a:r>
            <a:r>
              <a:rPr b="1" lang="pt-PT" sz="1200">
                <a:solidFill>
                  <a:schemeClr val="dk1"/>
                </a:solidFill>
              </a:rPr>
              <a:t>paramiko python </a:t>
            </a:r>
            <a:r>
              <a:rPr lang="pt-PT" sz="1200">
                <a:solidFill>
                  <a:schemeClr val="dk1"/>
                </a:solidFill>
              </a:rPr>
              <a:t>library. In the case of a query, this uses another </a:t>
            </a:r>
            <a:r>
              <a:rPr b="1" lang="pt-PT" sz="1200">
                <a:solidFill>
                  <a:schemeClr val="dk1"/>
                </a:solidFill>
              </a:rPr>
              <a:t>python </a:t>
            </a:r>
            <a:r>
              <a:rPr lang="pt-PT" sz="1200">
                <a:solidFill>
                  <a:schemeClr val="dk1"/>
                </a:solidFill>
              </a:rPr>
              <a:t>library called </a:t>
            </a:r>
            <a:r>
              <a:rPr b="1" lang="pt-PT" sz="1200">
                <a:solidFill>
                  <a:schemeClr val="dk1"/>
                </a:solidFill>
              </a:rPr>
              <a:t>ntc_templates</a:t>
            </a:r>
            <a:r>
              <a:rPr lang="pt-PT" sz="1200">
                <a:solidFill>
                  <a:schemeClr val="dk1"/>
                </a:solidFill>
              </a:rPr>
              <a:t> to format the data.</a:t>
            </a:r>
            <a:endParaRPr sz="12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lang="pt-PT" sz="1200">
                <a:solidFill>
                  <a:schemeClr val="dk1"/>
                </a:solidFill>
              </a:rPr>
              <a:t>This has 4 endpoints, each one of them with its own purpose: one that fetches results from the tasks, another that fetches information from the switches and subsequently fills in the database, a third one to allow the user to insert new operations and, lastly, one to run operations.</a:t>
            </a:r>
            <a:endParaRPr sz="1200">
              <a:solidFill>
                <a:schemeClr val="dk1"/>
              </a:solidFill>
            </a:endParaRPr>
          </a:p>
        </p:txBody>
      </p:sp>
      <p:pic>
        <p:nvPicPr>
          <p:cNvPr id="158" name="Google Shape;158;p28"/>
          <p:cNvPicPr preferRelativeResize="0"/>
          <p:nvPr/>
        </p:nvPicPr>
        <p:blipFill rotWithShape="1">
          <a:blip r:embed="rId3">
            <a:alphaModFix/>
          </a:blip>
          <a:srcRect b="0" l="0" r="0" t="0"/>
          <a:stretch/>
        </p:blipFill>
        <p:spPr>
          <a:xfrm>
            <a:off x="2534475" y="516863"/>
            <a:ext cx="6094899" cy="46876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Future Work</a:t>
            </a:r>
            <a:endParaRPr/>
          </a:p>
        </p:txBody>
      </p:sp>
      <p:sp>
        <p:nvSpPr>
          <p:cNvPr id="164" name="Google Shape;164;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Conclusions</a:t>
            </a:r>
            <a:endParaRPr/>
          </a:p>
        </p:txBody>
      </p:sp>
      <p:sp>
        <p:nvSpPr>
          <p:cNvPr id="170" name="Google Shape;170;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Acknowledgments</a:t>
            </a:r>
            <a:endParaRPr/>
          </a:p>
        </p:txBody>
      </p:sp>
      <p:sp>
        <p:nvSpPr>
          <p:cNvPr id="176" name="Google Shape;176;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pt-PT"/>
              <a:t>Thank you to etc etc etc</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Questions?</a:t>
            </a:r>
            <a:endParaRPr/>
          </a:p>
        </p:txBody>
      </p:sp>
      <p:sp>
        <p:nvSpPr>
          <p:cNvPr id="182" name="Google Shape;182;p3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