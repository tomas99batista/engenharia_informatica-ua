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Work Sans"/>
      <p:regular r:id="rId18"/>
      <p:bold r:id="rId19"/>
      <p:italic r:id="rId20"/>
      <p:boldItalic r:id="rId21"/>
    </p:embeddedFont>
    <p:embeddedFont>
      <p:font typeface="Work Sans Regular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italic.fntdata"/><Relationship Id="rId11" Type="http://schemas.openxmlformats.org/officeDocument/2006/relationships/slide" Target="slides/slide6.xml"/><Relationship Id="rId22" Type="http://schemas.openxmlformats.org/officeDocument/2006/relationships/font" Target="fonts/WorkSansRegular-bold.fntdata"/><Relationship Id="rId10" Type="http://schemas.openxmlformats.org/officeDocument/2006/relationships/slide" Target="slides/slide5.xml"/><Relationship Id="rId21" Type="http://schemas.openxmlformats.org/officeDocument/2006/relationships/font" Target="fonts/Work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WorkSansRegula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WorkSans-bold.fntdata"/><Relationship Id="rId6" Type="http://schemas.openxmlformats.org/officeDocument/2006/relationships/slide" Target="slides/slide1.xml"/><Relationship Id="rId18" Type="http://schemas.openxmlformats.org/officeDocument/2006/relationships/font" Target="fonts/Work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110bfcdf9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110bfcdf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110bfcdf9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110bfcdf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110bfcdf9_0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110bfcdf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110bfcdf9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110bfcdf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 Fizemos a divisão dos requisitos angariados em funcionais e não funcionais.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Os funcionais são aqueles que estabelecem o que o sistema tem como objetivo cumprir. Baseado no nosso sistema, temos como funcionalidades: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A representação gráfica da rede, ou seja, a representação da infraestrutura da universidade e dos departamentos pertencentes à mesma com a indicação da localização dos equipamentos existentes.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Acesso a informação read-only, como por exemplo, a modelação dos dados adquiridos dos equipamentos em gráficos ou mesmo a visualização dos dados dos mesmos (nome, estado, etc..)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A interface altera-se conforme o nível de acesso atribuído ao usuário, os dados que são demonstrados e os métodos disponibilizados são condicionados.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A autenticação é realizada com o sistema de autenticação idp da ua que permite associar o nível de permissões de cada usuário.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A existência de um histórico com o registo dos logs da atividade dos utilizadores.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Possibilidade de alteração da informação dos equipamentos e mapeamento dos mesmos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110bfcdf9_0_1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110bfcdf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Os requisitos não funcionais vão estabelecer a maneira como o sistema funciona.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Uma vez que o sistema também vai ser utilizado por usuários com menos conhecimentos técnicos, é necessário que seja fácil de compreender e intuitivo.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O sistema deve ser seguro logo as alterações realizadas não devem comprometer nenhum aspeto da rede ou do equipamento.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Usabilidade, de modo a proporcionar uma boa experiência na utilização do sistema.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Performance…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>
                <a:solidFill>
                  <a:schemeClr val="dk1"/>
                </a:solidFill>
              </a:rPr>
              <a:t>	Tendo em conta, a diversidade de funcionalidades que o sistema vai providenciar, a resistência do mesmo é um requisito essencial.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7110bfcdf9_0_2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7110bfcdf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Restringir a 3 ator baseado nas permissões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IDP da ua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exemplo prof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exemplo 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permissões de cada autor ainda estão suscetiveis a alteraçoes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7110bfcdf9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7110bfcdf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118369ca6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118369c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ctrTitle"/>
          </p:nvPr>
        </p:nvSpPr>
        <p:spPr>
          <a:xfrm>
            <a:off x="1048725" y="3058625"/>
            <a:ext cx="4914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reverse">
  <p:cSld name="BLANK_1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198600" y="198600"/>
            <a:ext cx="8746800" cy="4760700"/>
          </a:xfrm>
          <a:prstGeom prst="frame">
            <a:avLst>
              <a:gd fmla="val 4126" name="adj1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832550" y="2487075"/>
            <a:ext cx="49140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latin typeface="Work Sans"/>
                <a:ea typeface="Work Sans"/>
                <a:cs typeface="Work Sans"/>
                <a:sym typeface="Work Sans"/>
              </a:rPr>
              <a:t>Portal de self service para gestão de recursos virtuais do campus</a:t>
            </a:r>
            <a:endParaRPr b="1" sz="180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50" y="3980710"/>
            <a:ext cx="1571100" cy="58946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4294967295" type="body"/>
          </p:nvPr>
        </p:nvSpPr>
        <p:spPr>
          <a:xfrm>
            <a:off x="5746550" y="2641450"/>
            <a:ext cx="2663700" cy="12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Grupo 5</a:t>
            </a:r>
            <a:endParaRPr b="1"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latin typeface="Montserrat"/>
                <a:ea typeface="Montserrat"/>
                <a:cs typeface="Montserrat"/>
                <a:sym typeface="Montserrat"/>
              </a:rPr>
              <a:t>Tomás Batista       	89296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latin typeface="Montserrat"/>
                <a:ea typeface="Montserrat"/>
                <a:cs typeface="Montserrat"/>
                <a:sym typeface="Montserrat"/>
              </a:rPr>
              <a:t>Flávia Figueiredo 	88887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latin typeface="Montserrat"/>
                <a:ea typeface="Montserrat"/>
                <a:cs typeface="Montserrat"/>
                <a:sym typeface="Montserrat"/>
              </a:rPr>
              <a:t>João Dias		89236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000">
                <a:latin typeface="Montserrat"/>
                <a:ea typeface="Montserrat"/>
                <a:cs typeface="Montserrat"/>
                <a:sym typeface="Montserrat"/>
              </a:rPr>
              <a:t>Diogo Andrade	89265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963150" y="650775"/>
            <a:ext cx="65547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M2 : PROJECT INJECTION AND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ELABORATION PHASES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812100" y="2607475"/>
            <a:ext cx="7619100" cy="2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5"/>
          <p:cNvSpPr txBox="1"/>
          <p:nvPr>
            <p:ph idx="4294967295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4294967295" type="body"/>
          </p:nvPr>
        </p:nvSpPr>
        <p:spPr>
          <a:xfrm>
            <a:off x="607400" y="506625"/>
            <a:ext cx="7990800" cy="150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PT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Context and State of The Art (SOA)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72" name="Google Shape;72;p16"/>
          <p:cNvCxnSpPr/>
          <p:nvPr/>
        </p:nvCxnSpPr>
        <p:spPr>
          <a:xfrm>
            <a:off x="713825" y="1762750"/>
            <a:ext cx="6272100" cy="7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6"/>
          <p:cNvSpPr txBox="1"/>
          <p:nvPr/>
        </p:nvSpPr>
        <p:spPr>
          <a:xfrm>
            <a:off x="2097500" y="2007225"/>
            <a:ext cx="5010600" cy="6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To remotely see and make changes on network equipments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066700" y="2906600"/>
            <a:ext cx="5010600" cy="6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Network manager used by different people with different levels of permissions (read &amp; write)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097500" y="3805975"/>
            <a:ext cx="5010600" cy="50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Used on UA’s Network under the supervision of STIC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832550" y="698550"/>
            <a:ext cx="6554700" cy="1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REQUIREMENTS GATHERING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cxnSp>
        <p:nvCxnSpPr>
          <p:cNvPr id="81" name="Google Shape;81;p17"/>
          <p:cNvCxnSpPr/>
          <p:nvPr/>
        </p:nvCxnSpPr>
        <p:spPr>
          <a:xfrm>
            <a:off x="804575" y="2049150"/>
            <a:ext cx="6272100" cy="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7"/>
          <p:cNvSpPr txBox="1"/>
          <p:nvPr/>
        </p:nvSpPr>
        <p:spPr>
          <a:xfrm>
            <a:off x="1594550" y="2314750"/>
            <a:ext cx="2868300" cy="130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Meetings: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Char char="-"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STIC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Char char="-"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Project advisors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Char char="-"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Team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634750" y="2337600"/>
            <a:ext cx="2868300" cy="468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Related Software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4750" y="3738850"/>
            <a:ext cx="2868300" cy="468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Papers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634750" y="3038225"/>
            <a:ext cx="2868300" cy="468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Online Research</a:t>
            </a:r>
            <a:endParaRPr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4294967295" type="body"/>
          </p:nvPr>
        </p:nvSpPr>
        <p:spPr>
          <a:xfrm>
            <a:off x="567300" y="275475"/>
            <a:ext cx="8009400" cy="150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PT" sz="3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FUNCTIONAL REQUIREMENTS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92" name="Google Shape;92;p18"/>
          <p:cNvCxnSpPr/>
          <p:nvPr/>
        </p:nvCxnSpPr>
        <p:spPr>
          <a:xfrm>
            <a:off x="720800" y="1285400"/>
            <a:ext cx="6272100" cy="72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750388" y="1619950"/>
            <a:ext cx="45852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Graphic Representation of the network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750388" y="2165125"/>
            <a:ext cx="45852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Display of information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750388" y="2702425"/>
            <a:ext cx="4585200" cy="57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Interface alterations based on access permissions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750388" y="3367225"/>
            <a:ext cx="45852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IDP Authentication (UA authentication)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750388" y="3922550"/>
            <a:ext cx="45852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Authorization level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517213" y="1933750"/>
            <a:ext cx="28764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Log Register (History)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5517213" y="2552525"/>
            <a:ext cx="28764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Alteration of equipment data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517213" y="3143700"/>
            <a:ext cx="2876400" cy="46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Work Sans"/>
                <a:ea typeface="Work Sans"/>
                <a:cs typeface="Work Sans"/>
                <a:sym typeface="Work Sans"/>
              </a:rPr>
              <a:t>Equipment Mapping</a:t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832550" y="698550"/>
            <a:ext cx="65547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NON-FUNCTIONAL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REQUIREMENTS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cxnSp>
        <p:nvCxnSpPr>
          <p:cNvPr id="106" name="Google Shape;106;p19"/>
          <p:cNvCxnSpPr/>
          <p:nvPr/>
        </p:nvCxnSpPr>
        <p:spPr>
          <a:xfrm>
            <a:off x="804575" y="2049150"/>
            <a:ext cx="6272100" cy="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9"/>
          <p:cNvSpPr txBox="1"/>
          <p:nvPr>
            <p:ph idx="4294967295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2174688" y="2413825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Easy to use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2178325" y="3012213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Intuitive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4768163" y="2413825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Safety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4771800" y="3039988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Usability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2174688" y="3638375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Performance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4768163" y="3638375"/>
            <a:ext cx="2197500" cy="51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Endurance</a:t>
            </a:r>
            <a:endParaRPr b="1" sz="18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1074600" y="1581000"/>
            <a:ext cx="22899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ACTORS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&amp;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USE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CASES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cxnSp>
        <p:nvCxnSpPr>
          <p:cNvPr id="119" name="Google Shape;119;p20"/>
          <p:cNvCxnSpPr/>
          <p:nvPr/>
        </p:nvCxnSpPr>
        <p:spPr>
          <a:xfrm>
            <a:off x="3509675" y="1180950"/>
            <a:ext cx="0" cy="278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20"/>
          <p:cNvSpPr txBox="1"/>
          <p:nvPr>
            <p:ph idx="4294967295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4675" y="452813"/>
            <a:ext cx="3542775" cy="42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713900" y="691575"/>
            <a:ext cx="65547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600">
                <a:latin typeface="Work Sans Regular"/>
                <a:ea typeface="Work Sans Regular"/>
                <a:cs typeface="Work Sans Regular"/>
                <a:sym typeface="Work Sans Regular"/>
              </a:rPr>
              <a:t>SYSTEM ARCHITECTURE</a:t>
            </a:r>
            <a:endParaRPr sz="3600">
              <a:latin typeface="Work Sans Regular"/>
              <a:ea typeface="Work Sans Regular"/>
              <a:cs typeface="Work Sans Regular"/>
              <a:sym typeface="Work Sans Regular"/>
            </a:endParaRPr>
          </a:p>
        </p:txBody>
      </p:sp>
      <p:cxnSp>
        <p:nvCxnSpPr>
          <p:cNvPr id="127" name="Google Shape;127;p21"/>
          <p:cNvCxnSpPr/>
          <p:nvPr/>
        </p:nvCxnSpPr>
        <p:spPr>
          <a:xfrm>
            <a:off x="790600" y="1414075"/>
            <a:ext cx="6272100" cy="7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21"/>
          <p:cNvSpPr txBox="1"/>
          <p:nvPr>
            <p:ph idx="4294967295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278" y="2241850"/>
            <a:ext cx="2709445" cy="231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0" y="2082450"/>
            <a:ext cx="4942316" cy="23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159499" y="439327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340425" y="273825"/>
            <a:ext cx="8466300" cy="451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latin typeface="Work Sans"/>
              <a:ea typeface="Work Sans"/>
              <a:cs typeface="Work Sans"/>
              <a:sym typeface="Work Sans"/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6000">
                <a:latin typeface="Work Sans"/>
                <a:ea typeface="Work Sans"/>
                <a:cs typeface="Work Sans"/>
                <a:sym typeface="Work Sans"/>
              </a:rPr>
              <a:t>QUESTIONS?</a:t>
            </a:r>
            <a:endParaRPr b="1" sz="60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