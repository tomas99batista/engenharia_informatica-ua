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Catamaran Thin"/>
      <p:regular r:id="rId17"/>
      <p:bold r:id="rId18"/>
    </p:embeddedFont>
    <p:embeddedFont>
      <p:font typeface="Livvic Medium"/>
      <p:regular r:id="rId19"/>
      <p:bold r:id="rId20"/>
      <p:italic r:id="rId21"/>
      <p:boldItalic r:id="rId22"/>
    </p:embeddedFont>
    <p:embeddedFont>
      <p:font typeface="Livv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vvicMedium-bold.fntdata"/><Relationship Id="rId22" Type="http://schemas.openxmlformats.org/officeDocument/2006/relationships/font" Target="fonts/LivvicMedium-boldItalic.fntdata"/><Relationship Id="rId21" Type="http://schemas.openxmlformats.org/officeDocument/2006/relationships/font" Target="fonts/LivvicMedium-italic.fntdata"/><Relationship Id="rId24" Type="http://schemas.openxmlformats.org/officeDocument/2006/relationships/font" Target="fonts/Livvic-bold.fntdata"/><Relationship Id="rId23" Type="http://schemas.openxmlformats.org/officeDocument/2006/relationships/font" Target="fonts/Livvi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vvic-boldItalic.fntdata"/><Relationship Id="rId25" Type="http://schemas.openxmlformats.org/officeDocument/2006/relationships/font" Target="fonts/Livvic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atamaranThin-regular.fntdata"/><Relationship Id="rId16" Type="http://schemas.openxmlformats.org/officeDocument/2006/relationships/slide" Target="slides/slide11.xml"/><Relationship Id="rId19" Type="http://schemas.openxmlformats.org/officeDocument/2006/relationships/font" Target="fonts/LivvicMedium-regular.fntdata"/><Relationship Id="rId18" Type="http://schemas.openxmlformats.org/officeDocument/2006/relationships/font" Target="fonts/CatamaranTh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6f4d6be10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6f4d6be10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Tomás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6f4d6be10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6f4d6be10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Tomás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Problema real UA, STIC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Alterações técnico no local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Conhecimentos (linha de comandos) alterações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Falta de informação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6f4d6be10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6f4d6be10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Tomás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Aplicação colmatar os problemas descritos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Alta abstração (no code needed)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Técnico pode fazer a distancia as alterações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Registo da informação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f4d6be10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6f4d6be10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Açoreano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6f4d6be10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6f4d6be10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Flávia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6f4069423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6f4069423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Flávia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f4d6be10e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6f4d6be10e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Açoreano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6f4d6be10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6f4d6be10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Açoreano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6f4d6be10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6f4d6be10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6f4d6be10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6f4d6be10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6.jpg"/><Relationship Id="rId5" Type="http://schemas.openxmlformats.org/officeDocument/2006/relationships/image" Target="../media/image1.jp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hyperlink" Target="https://www.br.paessler.com/" TargetMode="External"/><Relationship Id="rId7" Type="http://schemas.openxmlformats.org/officeDocument/2006/relationships/hyperlink" Target="https://www.sysaid.com/pt" TargetMode="External"/><Relationship Id="rId8" Type="http://schemas.openxmlformats.org/officeDocument/2006/relationships/hyperlink" Target="https://www.solarwinds.com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5400000">
            <a:off x="1428875" y="13850"/>
            <a:ext cx="3358800" cy="50265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865000" y="2955325"/>
            <a:ext cx="24021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Projeto em Informática</a:t>
            </a:r>
            <a:endParaRPr sz="12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12075" y="1728075"/>
            <a:ext cx="4592400" cy="17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0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PORTAL DE SELF SERVICE PARA GESTÃO DE RECURSOS VIRTUAIS DO CAMPUS</a:t>
            </a:r>
            <a:endParaRPr b="1" sz="30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57" name="Google Shape;57;p13"/>
          <p:cNvSpPr/>
          <p:nvPr/>
        </p:nvSpPr>
        <p:spPr>
          <a:xfrm flipH="1" rot="-5400000">
            <a:off x="7354200" y="2416550"/>
            <a:ext cx="3358800" cy="2211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 rot="5400000">
            <a:off x="5484363" y="1309400"/>
            <a:ext cx="3358800" cy="24354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5993475" y="930375"/>
            <a:ext cx="15711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CCCCCC"/>
                </a:solidFill>
                <a:latin typeface="Livvic"/>
                <a:ea typeface="Livvic"/>
                <a:cs typeface="Livvic"/>
                <a:sym typeface="Livvic"/>
              </a:rPr>
              <a:t>GRUPO 5</a:t>
            </a:r>
            <a:endParaRPr b="1">
              <a:solidFill>
                <a:srgbClr val="CCCCCC"/>
              </a:solidFill>
              <a:latin typeface="Livvic"/>
              <a:ea typeface="Livvic"/>
              <a:cs typeface="Livvic"/>
              <a:sym typeface="Livv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Tomás</a:t>
            </a: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 Batista</a:t>
            </a:r>
            <a:endParaRPr sz="1100">
              <a:solidFill>
                <a:schemeClr val="dk1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Flávia Figueiredo</a:t>
            </a:r>
            <a:endParaRPr sz="1100">
              <a:solidFill>
                <a:schemeClr val="dk1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João Dias</a:t>
            </a:r>
            <a:endParaRPr sz="1100">
              <a:solidFill>
                <a:schemeClr val="dk1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Diogo Andrade</a:t>
            </a:r>
            <a:endParaRPr sz="1100">
              <a:solidFill>
                <a:schemeClr val="dk1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cxnSp>
        <p:nvCxnSpPr>
          <p:cNvPr id="60" name="Google Shape;60;p13"/>
          <p:cNvCxnSpPr/>
          <p:nvPr/>
        </p:nvCxnSpPr>
        <p:spPr>
          <a:xfrm flipH="1">
            <a:off x="7585238" y="1165725"/>
            <a:ext cx="6600" cy="799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7612500" y="1166475"/>
            <a:ext cx="676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89296</a:t>
            </a:r>
            <a:endParaRPr sz="1100">
              <a:solidFill>
                <a:schemeClr val="dk1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88887</a:t>
            </a:r>
            <a:endParaRPr sz="1100">
              <a:solidFill>
                <a:schemeClr val="dk1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89236</a:t>
            </a:r>
            <a:endParaRPr sz="1100">
              <a:solidFill>
                <a:schemeClr val="dk1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89265</a:t>
            </a:r>
            <a:endParaRPr sz="1100">
              <a:solidFill>
                <a:schemeClr val="dk1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38750" y="3215125"/>
            <a:ext cx="22500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D9D9D9"/>
                </a:solidFill>
                <a:latin typeface="Livvic"/>
                <a:ea typeface="Livvic"/>
                <a:cs typeface="Livvic"/>
                <a:sym typeface="Livvic"/>
              </a:rPr>
              <a:t>MENTORES</a:t>
            </a:r>
            <a:endParaRPr b="1">
              <a:solidFill>
                <a:srgbClr val="D9D9D9"/>
              </a:solidFill>
              <a:latin typeface="Livvic"/>
              <a:ea typeface="Livvic"/>
              <a:cs typeface="Livvic"/>
              <a:sym typeface="Livvic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João Paulo Barraca</a:t>
            </a:r>
            <a:endParaRPr sz="1100">
              <a:solidFill>
                <a:schemeClr val="dk1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Cláudio Teixeira</a:t>
            </a:r>
            <a:endParaRPr sz="1100">
              <a:solidFill>
                <a:schemeClr val="dk1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6700" y="4477835"/>
            <a:ext cx="1571100" cy="589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imagem pode conter: Diogo Andrade, óculos graduados" id="68" name="Google Shape;68;p14"/>
          <p:cNvPicPr preferRelativeResize="0"/>
          <p:nvPr/>
        </p:nvPicPr>
        <p:blipFill rotWithShape="1">
          <a:blip r:embed="rId3">
            <a:alphaModFix/>
          </a:blip>
          <a:srcRect b="43708" l="23519" r="23519" t="4443"/>
          <a:stretch/>
        </p:blipFill>
        <p:spPr>
          <a:xfrm>
            <a:off x="673540" y="2542092"/>
            <a:ext cx="1131000" cy="11766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imagem pode conter: João Dias, oceano, ar livre, closeup e água"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1691" y="2559072"/>
            <a:ext cx="1180200" cy="11427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imagem pode conter: 1 pessoa, óculos graduados, céu, oceano e ar livre" id="70" name="Google Shape;70;p14"/>
          <p:cNvPicPr preferRelativeResize="0"/>
          <p:nvPr/>
        </p:nvPicPr>
        <p:blipFill rotWithShape="1">
          <a:blip r:embed="rId5">
            <a:alphaModFix/>
          </a:blip>
          <a:srcRect b="1942" l="30003" r="11680" t="14347"/>
          <a:stretch/>
        </p:blipFill>
        <p:spPr>
          <a:xfrm>
            <a:off x="2308507" y="672525"/>
            <a:ext cx="1131000" cy="1195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02271" y="2542092"/>
            <a:ext cx="1180200" cy="1176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523928" y="3857271"/>
            <a:ext cx="13980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89265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821263" y="3826386"/>
            <a:ext cx="14736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89236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3660793" y="3438506"/>
            <a:ext cx="16818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JOÃO DIAS</a:t>
            </a:r>
            <a:endParaRPr b="1" sz="10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523925" y="3455486"/>
            <a:ext cx="16818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DIOGO ANDRADE</a:t>
            </a:r>
            <a:endParaRPr b="1" sz="10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5730502" y="732903"/>
            <a:ext cx="16164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TEAM LEADER</a:t>
            </a:r>
            <a:endParaRPr b="1" sz="1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730502" y="2847748"/>
            <a:ext cx="2042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TEAM</a:t>
            </a:r>
            <a:endParaRPr b="1" sz="1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MEMBERS</a:t>
            </a:r>
            <a:endParaRPr b="1" sz="1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cxnSp>
        <p:nvCxnSpPr>
          <p:cNvPr id="78" name="Google Shape;78;p14"/>
          <p:cNvCxnSpPr/>
          <p:nvPr/>
        </p:nvCxnSpPr>
        <p:spPr>
          <a:xfrm>
            <a:off x="5538129" y="732903"/>
            <a:ext cx="42600" cy="312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4"/>
          <p:cNvSpPr txBox="1"/>
          <p:nvPr/>
        </p:nvSpPr>
        <p:spPr>
          <a:xfrm>
            <a:off x="1981500" y="1953209"/>
            <a:ext cx="17535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89296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2017314" y="1565329"/>
            <a:ext cx="16818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TOMÁS BATISTA</a:t>
            </a:r>
            <a:endParaRPr b="1" sz="10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1994910" y="3826386"/>
            <a:ext cx="17535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88887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2030725" y="3438506"/>
            <a:ext cx="16818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FLÁVIA FIGUEIREDO</a:t>
            </a:r>
            <a:endParaRPr b="1" sz="10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83" name="Google Shape;83;p14"/>
          <p:cNvSpPr txBox="1"/>
          <p:nvPr/>
        </p:nvSpPr>
        <p:spPr>
          <a:xfrm rot="5400000">
            <a:off x="6291525" y="2040175"/>
            <a:ext cx="37011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ASSIGNMENTS</a:t>
            </a: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BY TEAM MEMBER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1436950" y="1011625"/>
            <a:ext cx="3776100" cy="1266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1810450" y="1201325"/>
            <a:ext cx="3029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Necessidade de conhecimentos específicos e certo tipo de formação para qualquer tipo de alteração dos equipamentos (Linha de comandos)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-13300" y="616200"/>
            <a:ext cx="2320200" cy="37800"/>
          </a:xfrm>
          <a:prstGeom prst="rect">
            <a:avLst/>
          </a:prstGeom>
          <a:solidFill>
            <a:srgbClr val="CFC3AC">
              <a:alpha val="73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2306900" y="257475"/>
            <a:ext cx="2036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0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PROBLEM</a:t>
            </a:r>
            <a:endParaRPr b="1" sz="30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408750" y="2373700"/>
            <a:ext cx="3402600" cy="8613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4677475" y="2496725"/>
            <a:ext cx="3029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Modificações e leituras dos equipamentos são processos demorados e trabalhosos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752625" y="161925"/>
            <a:ext cx="16305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CONTEXT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2306900" y="3506225"/>
            <a:ext cx="3697200" cy="1009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2575625" y="3629250"/>
            <a:ext cx="3029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Display de toda a informação e análise da mesma não disponível diretamente.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1436950" y="1011625"/>
            <a:ext cx="3776100" cy="1266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1810450" y="1201325"/>
            <a:ext cx="3029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Aplicação </a:t>
            </a: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intuitiva e </a:t>
            </a: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com alta abs</a:t>
            </a: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t</a:t>
            </a: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ração de modo a </a:t>
            </a:r>
            <a:r>
              <a:rPr lang="pt-PT" sz="11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reduzir a complexidad</a:t>
            </a: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e de operações, para a modificação de equipamentos de rede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-13300" y="616200"/>
            <a:ext cx="2320200" cy="37800"/>
          </a:xfrm>
          <a:prstGeom prst="rect">
            <a:avLst/>
          </a:prstGeom>
          <a:solidFill>
            <a:srgbClr val="CFC3AC">
              <a:alpha val="73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2306900" y="257475"/>
            <a:ext cx="2036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0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GOALS</a:t>
            </a:r>
            <a:endParaRPr b="1" sz="30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408750" y="2373700"/>
            <a:ext cx="3402600" cy="8613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4656025" y="2496713"/>
            <a:ext cx="3029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Remover a necessidade de deslocação ao local do equipamento para m</a:t>
            </a: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odificações do mesmo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752625" y="161925"/>
            <a:ext cx="16305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CONTEXT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2306900" y="3506225"/>
            <a:ext cx="3697200" cy="1009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2575625" y="3629250"/>
            <a:ext cx="3029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Dashboard com toda a informação dos equipamentos na rede, possibilitando a operação dos mesmos. Registo </a:t>
            </a: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dessa</a:t>
            </a: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 mesma informação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 rot="5400000">
            <a:off x="6491475" y="1840225"/>
            <a:ext cx="3301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COMMUNICATION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PLAN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646900" y="2867800"/>
            <a:ext cx="15639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Comunicação Direta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Mensagens Instantâneas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2601175" y="2867800"/>
            <a:ext cx="19614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Repositório do trabalho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4868551" y="2867800"/>
            <a:ext cx="16482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Distribuição e Gestão de tarefas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2641185" y="2375491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GitLab</a:t>
            </a:r>
            <a:endParaRPr b="1" sz="1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4628581" y="2375491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Trello</a:t>
            </a:r>
            <a:endParaRPr b="1" sz="1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46897" y="2375491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Slack</a:t>
            </a:r>
            <a:endParaRPr b="1" sz="1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749075" y="1902075"/>
            <a:ext cx="459000" cy="4590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3346641" y="1902075"/>
            <a:ext cx="459000" cy="4590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5962563" y="1902075"/>
            <a:ext cx="459000" cy="4590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lack" id="124" name="Google Shape;124;p17" title="Slack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474" y="1952063"/>
            <a:ext cx="359025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7721" r="60438" t="12495"/>
          <a:stretch/>
        </p:blipFill>
        <p:spPr>
          <a:xfrm>
            <a:off x="3348876" y="1902075"/>
            <a:ext cx="459001" cy="556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 rotWithShape="1">
          <a:blip r:embed="rId5">
            <a:alphaModFix/>
          </a:blip>
          <a:srcRect b="0" l="1311" r="68052" t="0"/>
          <a:stretch/>
        </p:blipFill>
        <p:spPr>
          <a:xfrm>
            <a:off x="5983296" y="1915950"/>
            <a:ext cx="417567" cy="4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 rot="5400000">
            <a:off x="6491475" y="1840225"/>
            <a:ext cx="3301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MILESTONES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32" name="Google Shape;132;p18"/>
          <p:cNvSpPr/>
          <p:nvPr/>
        </p:nvSpPr>
        <p:spPr>
          <a:xfrm flipH="1" rot="-5400000">
            <a:off x="-957900" y="959250"/>
            <a:ext cx="5140800" cy="32250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3435474" y="2600098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PROTOTYPE</a:t>
            </a:r>
            <a:endParaRPr b="1" sz="12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2030482" y="2682313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03</a:t>
            </a:r>
            <a:endParaRPr b="1" sz="4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3431377" y="746323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PRESENTATION OF THE LIFE CYCLE OBJECTIVES AND CALENDAR FOR THE PROJECT</a:t>
            </a:r>
            <a:endParaRPr b="1" sz="12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2030482" y="1012963"/>
            <a:ext cx="1739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01</a:t>
            </a:r>
            <a:endParaRPr b="1" sz="4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3453564" y="1847661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PRESENTATION OF THE LIFECYCLE </a:t>
            </a:r>
            <a:r>
              <a:rPr b="1" lang="pt-PT" sz="12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ARCHITECTURE</a:t>
            </a:r>
            <a:endParaRPr b="1" sz="12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030482" y="1847638"/>
            <a:ext cx="1615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02</a:t>
            </a:r>
            <a:endParaRPr b="1" sz="4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3435474" y="3458611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FINAL PRESENTATION</a:t>
            </a:r>
            <a:endParaRPr b="1" sz="12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2030482" y="3516988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04</a:t>
            </a:r>
            <a:endParaRPr b="1" sz="4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/>
        </p:nvSpPr>
        <p:spPr>
          <a:xfrm rot="5400000">
            <a:off x="6491475" y="1840225"/>
            <a:ext cx="3301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CALENDAR &amp; TASKS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46" name="Google Shape;146;p19"/>
          <p:cNvSpPr/>
          <p:nvPr/>
        </p:nvSpPr>
        <p:spPr>
          <a:xfrm flipH="1" rot="-5400000">
            <a:off x="-1615675" y="1579650"/>
            <a:ext cx="5140800" cy="19842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2157074" y="3037811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PROTOTYPE</a:t>
            </a:r>
            <a:endParaRPr b="1" sz="12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772932" y="3153300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03</a:t>
            </a:r>
            <a:endParaRPr b="1" sz="4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2108124" y="85950"/>
            <a:ext cx="4358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PRESENTATION OF THE LIFE CYCLE OBJECTIVES AND CALENDAR FOR THE PROJECT</a:t>
            </a:r>
            <a:endParaRPr b="1" sz="12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752082" y="162138"/>
            <a:ext cx="1739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01</a:t>
            </a:r>
            <a:endParaRPr b="1" sz="4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2157085" y="1616613"/>
            <a:ext cx="442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PRESENTATION OF THE LIFECYCLE ARCHITECTURE</a:t>
            </a:r>
            <a:endParaRPr b="1" sz="12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752082" y="1728013"/>
            <a:ext cx="1615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02</a:t>
            </a:r>
            <a:endParaRPr b="1" sz="4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157074" y="4458986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FINAL PRESENTATION</a:t>
            </a:r>
            <a:endParaRPr b="1" sz="12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752082" y="4458963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04</a:t>
            </a:r>
            <a:endParaRPr b="1" sz="4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175175" y="663750"/>
            <a:ext cx="5517300" cy="11604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2163925" y="2154375"/>
            <a:ext cx="5517300" cy="10974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2163925" y="3562750"/>
            <a:ext cx="5517300" cy="11604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2292150" y="739200"/>
            <a:ext cx="39342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tamaran Thin"/>
              <a:buAutoNum type="arabicPeriod"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Levantamento das funcionalidades a implementar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tamaran Thin"/>
              <a:buAutoNum type="arabicPeriod"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Familiarização das tecnologias a utilizar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tamaran Thin"/>
              <a:buAutoNum type="arabicPeriod"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Pesquisa de softwares existentes, que tenham alguma semelhança com o nosso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cxnSp>
        <p:nvCxnSpPr>
          <p:cNvPr id="159" name="Google Shape;159;p19"/>
          <p:cNvCxnSpPr/>
          <p:nvPr/>
        </p:nvCxnSpPr>
        <p:spPr>
          <a:xfrm flipH="1">
            <a:off x="6222529" y="198453"/>
            <a:ext cx="3900" cy="352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19"/>
          <p:cNvSpPr txBox="1"/>
          <p:nvPr/>
        </p:nvSpPr>
        <p:spPr>
          <a:xfrm>
            <a:off x="6245900" y="162150"/>
            <a:ext cx="1278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24/02/2020</a:t>
            </a:r>
            <a:endParaRPr b="1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cxnSp>
        <p:nvCxnSpPr>
          <p:cNvPr id="161" name="Google Shape;161;p19"/>
          <p:cNvCxnSpPr/>
          <p:nvPr/>
        </p:nvCxnSpPr>
        <p:spPr>
          <a:xfrm flipH="1">
            <a:off x="6220425" y="1868963"/>
            <a:ext cx="8100" cy="240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19"/>
          <p:cNvSpPr txBox="1"/>
          <p:nvPr/>
        </p:nvSpPr>
        <p:spPr>
          <a:xfrm>
            <a:off x="6296625" y="1802638"/>
            <a:ext cx="12783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19</a:t>
            </a:r>
            <a:r>
              <a:rPr b="1" lang="pt-PT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/03/2020</a:t>
            </a:r>
            <a:endParaRPr b="1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6269275" y="3215425"/>
            <a:ext cx="1278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20/04/2020</a:t>
            </a:r>
            <a:endParaRPr b="1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6269275" y="4695300"/>
            <a:ext cx="1278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25/05/2020</a:t>
            </a:r>
            <a:endParaRPr b="1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cxnSp>
        <p:nvCxnSpPr>
          <p:cNvPr id="165" name="Google Shape;165;p19"/>
          <p:cNvCxnSpPr/>
          <p:nvPr/>
        </p:nvCxnSpPr>
        <p:spPr>
          <a:xfrm flipH="1">
            <a:off x="6220425" y="3286950"/>
            <a:ext cx="8100" cy="240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9"/>
          <p:cNvCxnSpPr/>
          <p:nvPr/>
        </p:nvCxnSpPr>
        <p:spPr>
          <a:xfrm flipH="1">
            <a:off x="6220425" y="4787688"/>
            <a:ext cx="8100" cy="240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9"/>
          <p:cNvSpPr txBox="1"/>
          <p:nvPr/>
        </p:nvSpPr>
        <p:spPr>
          <a:xfrm>
            <a:off x="2404575" y="3650700"/>
            <a:ext cx="39342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tamaran Thin"/>
              <a:buAutoNum type="arabicPeriod"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Desenvolver a interface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tamaran Thin"/>
              <a:buAutoNum type="arabicPeriod"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Criar as bases de dados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tamaran Thin"/>
              <a:buAutoNum type="arabicPeriod"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Ligar a interface às bases de dados e às API’s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tamaran Thin"/>
              <a:buAutoNum type="arabicPeriod"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Testes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2320375" y="2255200"/>
            <a:ext cx="39342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tamaran Thin"/>
              <a:buAutoNum type="arabicPeriod"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Mostrar o protótipo aos clientes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tamaran Thin"/>
              <a:buAutoNum type="arabicPeriod"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Testar o protótipo com user tests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tamaran Thin"/>
              <a:buAutoNum type="arabicPeriod"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Implementação e melhoramento de funcionalidades sugeridas por parte dos users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 rot="5400000">
            <a:off x="6491475" y="1840225"/>
            <a:ext cx="3301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DELIVERABLES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74" name="Google Shape;174;p20"/>
          <p:cNvSpPr/>
          <p:nvPr/>
        </p:nvSpPr>
        <p:spPr>
          <a:xfrm flipH="1" rot="-5400000">
            <a:off x="2700000" y="-1463725"/>
            <a:ext cx="842100" cy="62421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 flipH="1" rot="-5400000">
            <a:off x="2700000" y="-378400"/>
            <a:ext cx="842100" cy="62421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607101" y="1368425"/>
            <a:ext cx="1515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WEBSITE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07101" y="2453750"/>
            <a:ext cx="1515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DB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/>
        </p:nvSpPr>
        <p:spPr>
          <a:xfrm rot="5400000">
            <a:off x="6491475" y="1840225"/>
            <a:ext cx="3301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TECNOLOGIAS A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UTILIZAR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76575" y="2639200"/>
            <a:ext cx="15639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tamaran Thin"/>
              <a:buChar char="-"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Interface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tamaran Thin"/>
              <a:buChar char="-"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Interligação da db com a interface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tamaran Thin"/>
              <a:buChar char="-"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Autenticação (Django to SAML)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3168500" y="2721450"/>
            <a:ext cx="19614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Base de Dados não relacional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(Registo da utilização)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3252110" y="2076754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MongoDB</a:t>
            </a:r>
            <a:endParaRPr b="1" sz="1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646897" y="2146891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Django</a:t>
            </a:r>
            <a:endParaRPr b="1" sz="1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984325" y="1476950"/>
            <a:ext cx="459000" cy="4590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3954066" y="1476938"/>
            <a:ext cx="459000" cy="4590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django logo white"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501" y="1531550"/>
            <a:ext cx="274650" cy="34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ongodb logo white" id="190" name="Google Shape;1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8375" y="1502063"/>
            <a:ext cx="408750" cy="40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463500" y="2721450"/>
            <a:ext cx="19614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Base de Dados relacional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(Dados da Interface)</a:t>
            </a:r>
            <a:endParaRPr sz="10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503560" y="2076741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mySQL</a:t>
            </a:r>
            <a:endParaRPr b="1" sz="18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107779" y="1476950"/>
            <a:ext cx="459000" cy="459000"/>
          </a:xfrm>
          <a:prstGeom prst="rect">
            <a:avLst/>
          </a:prstGeom>
          <a:solidFill>
            <a:srgbClr val="9082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mysql logo white" id="194" name="Google Shape;194;p21"/>
          <p:cNvPicPr preferRelativeResize="0"/>
          <p:nvPr/>
        </p:nvPicPr>
        <p:blipFill rotWithShape="1">
          <a:blip r:embed="rId5">
            <a:alphaModFix/>
          </a:blip>
          <a:srcRect b="43677" l="52347" r="12747" t="0"/>
          <a:stretch/>
        </p:blipFill>
        <p:spPr>
          <a:xfrm>
            <a:off x="6093536" y="1339251"/>
            <a:ext cx="487500" cy="545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/>
          <p:nvPr/>
        </p:nvSpPr>
        <p:spPr>
          <a:xfrm rot="5400000">
            <a:off x="5783725" y="95475"/>
            <a:ext cx="2167500" cy="36576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-13300" y="616200"/>
            <a:ext cx="2320200" cy="37800"/>
          </a:xfrm>
          <a:prstGeom prst="rect">
            <a:avLst/>
          </a:prstGeom>
          <a:solidFill>
            <a:srgbClr val="CFC3AC">
              <a:alpha val="73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2306900" y="257475"/>
            <a:ext cx="5151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0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RELATED WORK</a:t>
            </a:r>
            <a:endParaRPr b="1" sz="30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752625" y="161925"/>
            <a:ext cx="16305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CONTEXT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pic>
        <p:nvPicPr>
          <p:cNvPr descr="Image result for sysaid logo white" id="203" name="Google Shape;2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1900" y="1001988"/>
            <a:ext cx="945375" cy="3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/>
          <p:nvPr/>
        </p:nvSpPr>
        <p:spPr>
          <a:xfrm rot="5400000">
            <a:off x="1414550" y="-355575"/>
            <a:ext cx="2195700" cy="45879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prtg logo white" id="205" name="Google Shape;2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575" y="925788"/>
            <a:ext cx="1202050" cy="73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/>
          <p:nvPr/>
        </p:nvSpPr>
        <p:spPr>
          <a:xfrm rot="5400000">
            <a:off x="4819200" y="622625"/>
            <a:ext cx="1740300" cy="6909300"/>
          </a:xfrm>
          <a:prstGeom prst="rect">
            <a:avLst/>
          </a:prstGeom>
          <a:solidFill>
            <a:srgbClr val="908269">
              <a:alpha val="86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sult for solarwinds logo png" id="207" name="Google Shape;207;p22"/>
          <p:cNvPicPr preferRelativeResize="0"/>
          <p:nvPr/>
        </p:nvPicPr>
        <p:blipFill rotWithShape="1">
          <a:blip r:embed="rId5">
            <a:alphaModFix/>
          </a:blip>
          <a:srcRect b="30444" l="0" r="0" t="0"/>
          <a:stretch/>
        </p:blipFill>
        <p:spPr>
          <a:xfrm>
            <a:off x="2421050" y="3353513"/>
            <a:ext cx="1458500" cy="3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1728600" y="925800"/>
            <a:ext cx="28434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 sz="1200">
                <a:solidFill>
                  <a:srgbClr val="FFFFFF"/>
                </a:solidFill>
                <a:latin typeface="Livvic Medium"/>
                <a:ea typeface="Livvic Medium"/>
                <a:cs typeface="Livvic Medium"/>
                <a:sym typeface="Livvic Medium"/>
              </a:rPr>
              <a:t>“O PRTG monitora toda sua infraestrutura de TI, 24 horas por dia, 7 dias por semana, alertando você a respeito de problemas antes que os usuários os possam perceber. Descubra mais sobre o software de monitoramento que ajuda administradores de sistemas a trabalharem melhor, com mais inteligência e com mais agilidade.”</a:t>
            </a:r>
            <a:endParaRPr i="1">
              <a:solidFill>
                <a:srgbClr val="FFFFFF"/>
              </a:solidFill>
              <a:latin typeface="Livvic Medium"/>
              <a:ea typeface="Livvic Medium"/>
              <a:cs typeface="Livvic Medium"/>
              <a:sym typeface="Livvic Medium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5227950" y="984450"/>
            <a:ext cx="2230200" cy="18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rgbClr val="FFFFFF"/>
                </a:solidFill>
                <a:latin typeface="Livvic Medium"/>
                <a:ea typeface="Livvic Medium"/>
                <a:cs typeface="Livvic Medium"/>
                <a:sym typeface="Livvic Medium"/>
              </a:rPr>
              <a:t>“O SysAid é uma solução ITSM de várias camadas com gerenciamento de ativos embutido, automação e orquestração avançada de inteligência de negócios com análises poderosas.”</a:t>
            </a:r>
            <a:endParaRPr>
              <a:solidFill>
                <a:srgbClr val="FFFFFF"/>
              </a:solidFill>
              <a:latin typeface="Livvic Medium"/>
              <a:ea typeface="Livvic Medium"/>
              <a:cs typeface="Livvic Medium"/>
              <a:sym typeface="Livvic Medium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218450" y="4132375"/>
            <a:ext cx="37242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 u="sng">
                <a:solidFill>
                  <a:schemeClr val="hlink"/>
                </a:solidFill>
                <a:hlinkClick r:id="rId6"/>
              </a:rPr>
              <a:t>https://www.br.paessler.com/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 u="sng">
                <a:solidFill>
                  <a:schemeClr val="hlink"/>
                </a:solidFill>
                <a:hlinkClick r:id="rId7"/>
              </a:rPr>
              <a:t>https://www.sysaid.com/pt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 u="sng">
                <a:solidFill>
                  <a:schemeClr val="hlink"/>
                </a:solidFill>
                <a:hlinkClick r:id="rId8"/>
              </a:rPr>
              <a:t>https://www.solarwinds.com/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4005300" y="3283275"/>
            <a:ext cx="5007600" cy="12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 sz="1300">
                <a:solidFill>
                  <a:srgbClr val="FFFFFF"/>
                </a:solidFill>
                <a:latin typeface="Livvic Medium"/>
                <a:ea typeface="Livvic Medium"/>
                <a:cs typeface="Livvic Medium"/>
                <a:sym typeface="Livvic Medium"/>
              </a:rPr>
              <a:t>“O SolarWinds® Network Performance Monitor (NPM) é um software de monitorização da rede acessível que permite detectar, diagnosticar e resolver rapidamente problemas e interrupções no desempenho da rede. Acelera a solução de problemas, aumenta os níveis de serviço e reduz o tempo de inatividade.”</a:t>
            </a:r>
            <a:endParaRPr i="1" sz="1300">
              <a:solidFill>
                <a:srgbClr val="FFFFFF"/>
              </a:solidFill>
              <a:latin typeface="Livvic Medium"/>
              <a:ea typeface="Livvic Medium"/>
              <a:cs typeface="Livvic Medium"/>
              <a:sym typeface="Livvic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1436950" y="1011625"/>
            <a:ext cx="3776100" cy="1266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1810450" y="1201325"/>
            <a:ext cx="3029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Alterações e leitura dos equipamentos realizada de forma simples e </a:t>
            </a: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intuitiva</a:t>
            </a: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. 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-13300" y="616200"/>
            <a:ext cx="2320200" cy="37800"/>
          </a:xfrm>
          <a:prstGeom prst="rect">
            <a:avLst/>
          </a:prstGeom>
          <a:solidFill>
            <a:srgbClr val="CFC3AC">
              <a:alpha val="73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2306900" y="257475"/>
            <a:ext cx="5151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0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EXPECTED RESULTS</a:t>
            </a:r>
            <a:endParaRPr b="1" sz="30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4408750" y="2373700"/>
            <a:ext cx="3402600" cy="8613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4677475" y="2496725"/>
            <a:ext cx="3029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Visualização clara dos equipamentos e da estrutura do mapa de redes.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752625" y="161925"/>
            <a:ext cx="16305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CONTEXT</a:t>
            </a:r>
            <a:endParaRPr b="1" sz="240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353550" y="3693125"/>
            <a:ext cx="3696300" cy="10767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3622275" y="3816150"/>
            <a:ext cx="3029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Permissões adquiridas através da autenticação idp da UA que vai determinar o </a:t>
            </a: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nível</a:t>
            </a: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 de manipulação dos equipamentos autorizado.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687500" y="2758150"/>
            <a:ext cx="3120600" cy="6354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956225" y="2881175"/>
            <a:ext cx="3029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100">
                <a:solidFill>
                  <a:srgbClr val="FFFFFF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Representação gráfica dos equipamentos.</a:t>
            </a:r>
            <a:endParaRPr sz="1100">
              <a:solidFill>
                <a:srgbClr val="FFFFFF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