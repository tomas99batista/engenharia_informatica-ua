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Tomás</a:t>
            </a:r>
            <a:endParaRPr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Tomás</a:t>
            </a:r>
            <a:endParaRPr b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0a896a4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0a896a4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Flávia</a:t>
            </a:r>
            <a:endParaRPr b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0a896a41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0a896a41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José</a:t>
            </a:r>
            <a:endParaRPr b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80a896a41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80a896a41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José</a:t>
            </a:r>
            <a:endParaRPr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80a896a41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80a896a41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José</a:t>
            </a:r>
            <a:endParaRPr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80a896a41e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80a896a41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Pedro</a:t>
            </a:r>
            <a:endParaRPr b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80a896a41e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80a896a41e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Pedro</a:t>
            </a:r>
            <a:endParaRPr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0a896a41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0a896a41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Tomás</a:t>
            </a:r>
            <a:endParaRPr b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80a896a41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80a896a41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Tomás</a:t>
            </a:r>
            <a:endParaRPr b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80a896a41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80a896a41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José</a:t>
            </a:r>
            <a:endParaRPr b="1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Flávia</a:t>
            </a:r>
            <a:endParaRPr b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José</a:t>
            </a:r>
            <a:endParaRPr b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0a896a41e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0a896a41e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Tomás</a:t>
            </a:r>
            <a:endParaRPr b="1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Homies MarketPlace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600">
                <a:solidFill>
                  <a:schemeClr val="dk2"/>
                </a:solidFill>
                <a:latin typeface="Arial Nova"/>
                <a:ea typeface="Arial Nova"/>
                <a:cs typeface="Arial Nova"/>
                <a:sym typeface="Arial Nova"/>
              </a:rPr>
              <a:t>Flávia Figueiredo [88887]</a:t>
            </a:r>
            <a:endParaRPr b="1" sz="1600">
              <a:solidFill>
                <a:schemeClr val="dk2"/>
              </a:solidFill>
              <a:latin typeface="Arial Nova"/>
              <a:ea typeface="Arial Nova"/>
              <a:cs typeface="Arial Nova"/>
              <a:sym typeface="Arial Nov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600">
                <a:solidFill>
                  <a:schemeClr val="dk2"/>
                </a:solidFill>
                <a:latin typeface="Arial Nova"/>
                <a:ea typeface="Arial Nova"/>
                <a:cs typeface="Arial Nova"/>
                <a:sym typeface="Arial Nova"/>
              </a:rPr>
              <a:t>Pedro Marques [89069]</a:t>
            </a:r>
            <a:endParaRPr b="1" i="1" sz="1600">
              <a:solidFill>
                <a:schemeClr val="dk2"/>
              </a:solidFill>
              <a:latin typeface="Arial Nova"/>
              <a:ea typeface="Arial Nova"/>
              <a:cs typeface="Arial Nova"/>
              <a:sym typeface="Arial Nov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600">
                <a:solidFill>
                  <a:schemeClr val="dk2"/>
                </a:solidFill>
                <a:latin typeface="Arial Nova"/>
                <a:ea typeface="Arial Nova"/>
                <a:cs typeface="Arial Nova"/>
                <a:sym typeface="Arial Nova"/>
              </a:rPr>
              <a:t>José Frias [89206]</a:t>
            </a:r>
            <a:endParaRPr b="1" i="1" sz="1600">
              <a:solidFill>
                <a:schemeClr val="dk2"/>
              </a:solidFill>
              <a:latin typeface="Arial Nova"/>
              <a:ea typeface="Arial Nova"/>
              <a:cs typeface="Arial Nova"/>
              <a:sym typeface="Arial Nov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i="1" lang="pt-BR" sz="1600">
                <a:solidFill>
                  <a:schemeClr val="dk2"/>
                </a:solidFill>
                <a:latin typeface="Arial Nova"/>
                <a:ea typeface="Arial Nova"/>
                <a:cs typeface="Arial Nova"/>
                <a:sym typeface="Arial Nova"/>
              </a:rPr>
              <a:t>Tomás Batista [89296]</a:t>
            </a:r>
            <a:r>
              <a:rPr b="1" lang="pt-BR" sz="1600">
                <a:solidFill>
                  <a:schemeClr val="dk2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endParaRPr b="1"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dk1"/>
                </a:solidFill>
              </a:rPr>
              <a:t>Context</a:t>
            </a:r>
            <a:endParaRPr sz="2400"/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79593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Homies MarketPlace allows: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Rent places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Search by places with specific requirements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Review places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Add places to the platform (owner perspective)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Add places to favorites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idx="4294967295" type="title"/>
          </p:nvPr>
        </p:nvSpPr>
        <p:spPr>
          <a:xfrm>
            <a:off x="535775" y="712150"/>
            <a:ext cx="8383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dk1"/>
                </a:solidFill>
              </a:rPr>
              <a:t>Agile project management practices &amp; tools</a:t>
            </a:r>
            <a:endParaRPr sz="2400"/>
          </a:p>
        </p:txBody>
      </p:sp>
      <p:sp>
        <p:nvSpPr>
          <p:cNvPr id="85" name="Google Shape;85;p15"/>
          <p:cNvSpPr txBox="1"/>
          <p:nvPr>
            <p:ph idx="4294967295" type="title"/>
          </p:nvPr>
        </p:nvSpPr>
        <p:spPr>
          <a:xfrm>
            <a:off x="535775" y="1999975"/>
            <a:ext cx="7959300" cy="17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Pivotal Tracker -  to define the user stories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Trello  - assignment of work between the group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Github flow - each user story will correspond to a branch in github)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Slack - channels divided by topic (frontend, backend, and so on)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idx="4294967295" type="title"/>
          </p:nvPr>
        </p:nvSpPr>
        <p:spPr>
          <a:xfrm>
            <a:off x="535775" y="712150"/>
            <a:ext cx="8383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dk1"/>
                </a:solidFill>
              </a:rPr>
              <a:t>Definition of Done</a:t>
            </a:r>
            <a:endParaRPr sz="2400"/>
          </a:p>
        </p:txBody>
      </p:sp>
      <p:sp>
        <p:nvSpPr>
          <p:cNvPr id="91" name="Google Shape;91;p16"/>
          <p:cNvSpPr txBox="1"/>
          <p:nvPr>
            <p:ph idx="4294967295" type="title"/>
          </p:nvPr>
        </p:nvSpPr>
        <p:spPr>
          <a:xfrm>
            <a:off x="535775" y="1999975"/>
            <a:ext cx="7959300" cy="17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Unit and Integration tests pass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Quality gates defined in Sonarcloud are verified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Endpoint in the API (if necessary) is well defined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Meets the Acceptance Criteria defined in Pivotal Tracker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idx="4294967295" type="title"/>
          </p:nvPr>
        </p:nvSpPr>
        <p:spPr>
          <a:xfrm>
            <a:off x="535775" y="712150"/>
            <a:ext cx="8383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dk1"/>
                </a:solidFill>
              </a:rPr>
              <a:t>Quality Gates</a:t>
            </a:r>
            <a:r>
              <a:rPr lang="pt-BR" sz="3600">
                <a:solidFill>
                  <a:schemeClr val="dk1"/>
                </a:solidFill>
              </a:rPr>
              <a:t> in Sonarcloud</a:t>
            </a:r>
            <a:endParaRPr sz="2400"/>
          </a:p>
        </p:txBody>
      </p:sp>
      <p:sp>
        <p:nvSpPr>
          <p:cNvPr id="97" name="Google Shape;97;p17"/>
          <p:cNvSpPr txBox="1"/>
          <p:nvPr>
            <p:ph idx="4294967295" type="title"/>
          </p:nvPr>
        </p:nvSpPr>
        <p:spPr>
          <a:xfrm>
            <a:off x="535775" y="1999975"/>
            <a:ext cx="7959300" cy="17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A at </a:t>
            </a:r>
            <a:r>
              <a:rPr b="0" lang="pt-BR" sz="1800">
                <a:latin typeface="Lato"/>
                <a:ea typeface="Lato"/>
                <a:cs typeface="Lato"/>
                <a:sym typeface="Lato"/>
              </a:rPr>
              <a:t>Maintainability</a:t>
            </a:r>
            <a:r>
              <a:rPr b="0" lang="pt-BR" sz="1800">
                <a:latin typeface="Lato"/>
                <a:ea typeface="Lato"/>
                <a:cs typeface="Lato"/>
                <a:sym typeface="Lato"/>
              </a:rPr>
              <a:t>, Security and </a:t>
            </a:r>
            <a:r>
              <a:rPr b="0" lang="pt-BR" sz="1800">
                <a:latin typeface="Lato"/>
                <a:ea typeface="Lato"/>
                <a:cs typeface="Lato"/>
                <a:sym typeface="Lato"/>
              </a:rPr>
              <a:t>Reliability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At least 80% of Test Coverage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Maximum of 5% in duplicated blocks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idx="4294967295" type="title"/>
          </p:nvPr>
        </p:nvSpPr>
        <p:spPr>
          <a:xfrm>
            <a:off x="481050" y="461675"/>
            <a:ext cx="8383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dk1"/>
                </a:solidFill>
              </a:rPr>
              <a:t>Sonarcloud Dashboard</a:t>
            </a:r>
            <a:endParaRPr sz="2400"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775" y="1455100"/>
            <a:ext cx="3456100" cy="3216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9900" y="2101150"/>
            <a:ext cx="3667125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idx="4294967295" type="title"/>
          </p:nvPr>
        </p:nvSpPr>
        <p:spPr>
          <a:xfrm>
            <a:off x="535775" y="712150"/>
            <a:ext cx="8383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dk1"/>
                </a:solidFill>
              </a:rPr>
              <a:t>CI pipeline</a:t>
            </a:r>
            <a:endParaRPr sz="2400"/>
          </a:p>
        </p:txBody>
      </p:sp>
      <p:sp>
        <p:nvSpPr>
          <p:cNvPr id="110" name="Google Shape;110;p19"/>
          <p:cNvSpPr txBox="1"/>
          <p:nvPr>
            <p:ph idx="4294967295" type="title"/>
          </p:nvPr>
        </p:nvSpPr>
        <p:spPr>
          <a:xfrm>
            <a:off x="535775" y="1999975"/>
            <a:ext cx="7959300" cy="17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Git actions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On push to master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On pull request to master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Builds, tests and verifies code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Sonarcloud check 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Pushes code to repository if successful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idx="4294967295" type="title"/>
          </p:nvPr>
        </p:nvSpPr>
        <p:spPr>
          <a:xfrm>
            <a:off x="535775" y="712150"/>
            <a:ext cx="8383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dk1"/>
                </a:solidFill>
              </a:rPr>
              <a:t>CD pipeline</a:t>
            </a:r>
            <a:endParaRPr sz="2400"/>
          </a:p>
        </p:txBody>
      </p:sp>
      <p:sp>
        <p:nvSpPr>
          <p:cNvPr id="116" name="Google Shape;116;p20"/>
          <p:cNvSpPr txBox="1"/>
          <p:nvPr>
            <p:ph idx="4294967295" type="title"/>
          </p:nvPr>
        </p:nvSpPr>
        <p:spPr>
          <a:xfrm>
            <a:off x="535775" y="1999975"/>
            <a:ext cx="7959300" cy="17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Git action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on push to master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on pull request to master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Self hosted runner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Virtual Machine pulls directly from Github repository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Docker-compose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Postgres DB and Webapp setup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534400" y="434200"/>
            <a:ext cx="51702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Product Architecture</a:t>
            </a:r>
            <a:endParaRPr sz="2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634600" y="1569775"/>
            <a:ext cx="7394700" cy="3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7700" y="1289204"/>
            <a:ext cx="3048600" cy="29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/>
        </p:nvSpPr>
        <p:spPr>
          <a:xfrm>
            <a:off x="534400" y="434200"/>
            <a:ext cx="51702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Deployment Diagram</a:t>
            </a:r>
            <a:endParaRPr sz="2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634600" y="1569775"/>
            <a:ext cx="7394700" cy="3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25" y="1348600"/>
            <a:ext cx="5907150" cy="2648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/>
        </p:nvSpPr>
        <p:spPr>
          <a:xfrm>
            <a:off x="534400" y="434200"/>
            <a:ext cx="51702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API</a:t>
            </a:r>
            <a:endParaRPr sz="2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700" y="434200"/>
            <a:ext cx="6304725" cy="420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283100" y="712150"/>
            <a:ext cx="71817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5"/>
                </a:solidFill>
              </a:rPr>
              <a:t>Web Interface Demo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pt-BR">
                <a:solidFill>
                  <a:schemeClr val="accent5"/>
                </a:solidFill>
              </a:rPr>
              <a:t>Android Demo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pt-BR">
                <a:solidFill>
                  <a:schemeClr val="accent5"/>
                </a:solidFill>
              </a:rPr>
              <a:t>RaspberryPi</a:t>
            </a:r>
            <a:r>
              <a:rPr lang="pt-BR">
                <a:solidFill>
                  <a:schemeClr val="accent5"/>
                </a:solidFill>
              </a:rPr>
              <a:t> Demo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