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5DECCBB6-33F7-45B0-8DD3-7ABB1D10B171}">
  <a:tblStyle styleId="{5DECCBB6-33F7-45B0-8DD3-7ABB1D10B1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5.xml"/><Relationship Id="rId33" Type="http://schemas.openxmlformats.org/officeDocument/2006/relationships/font" Target="fonts/Lato-italic.fntdata"/><Relationship Id="rId10" Type="http://schemas.openxmlformats.org/officeDocument/2006/relationships/slide" Target="slides/slide4.xml"/><Relationship Id="rId32" Type="http://schemas.openxmlformats.org/officeDocument/2006/relationships/font" Target="fonts/La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La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Introdução</a:t>
            </a:r>
            <a:r>
              <a:rPr lang="pt-PT"/>
              <a:t>: Flávia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502edaa6da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502edaa6da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Escolha da app</a:t>
            </a:r>
            <a:r>
              <a:rPr lang="pt-PT"/>
              <a:t>: Flávia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O que é: </a:t>
            </a:r>
            <a:r>
              <a:rPr lang="pt-PT"/>
              <a:t>Eleandro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Descrever Produto: </a:t>
            </a:r>
            <a:r>
              <a:rPr lang="pt-PT"/>
              <a:t>Tomás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PT" sz="1400"/>
              <a:t>Explicar escolha da APP: </a:t>
            </a:r>
            <a:r>
              <a:rPr b="1" lang="pt-PT" sz="1400">
                <a:highlight>
                  <a:srgbClr val="E06666"/>
                </a:highlight>
              </a:rPr>
              <a:t>Flávia</a:t>
            </a:r>
            <a:endParaRPr b="1" sz="1200">
              <a:highlight>
                <a:srgbClr val="E06666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200"/>
              <a:t>Escolhemos por influência de 2 membros do grupo já usarem a aplicação e também por ser fácil todos os elementos do grupo poder testar e tirar proveito uma vez que somos todos estudantes e sentimos a necessidade de gerir os nossos gastos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PT" sz="1400"/>
              <a:t>O que é? </a:t>
            </a:r>
            <a:r>
              <a:rPr b="1" lang="pt-PT" sz="1200">
                <a:highlight>
                  <a:srgbClr val="E06666"/>
                </a:highlight>
              </a:rPr>
              <a:t>Eleandro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200"/>
              <a:t>Wallet é uma aplicação que proporciona ao utilizador planear e gerenciar orçamentos e gastos, facilitando a gestão financeira do mesmo.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PT" sz="1400"/>
              <a:t>Descrever o produto </a:t>
            </a:r>
            <a:r>
              <a:rPr b="1" lang="pt-PT" sz="1200">
                <a:highlight>
                  <a:srgbClr val="E06666"/>
                </a:highlight>
              </a:rPr>
              <a:t>Tomás</a:t>
            </a:r>
            <a:endParaRPr b="1" sz="1200">
              <a:highlight>
                <a:srgbClr val="E06666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PT" sz="1400"/>
              <a:t>Objetivos</a:t>
            </a:r>
            <a:endParaRPr b="1" sz="1400"/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400"/>
              <a:t>Controlar os gastos e orçamentos.</a:t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400" u="sng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PT" sz="1400"/>
              <a:t>Target Users</a:t>
            </a:r>
            <a:endParaRPr b="1" sz="1400"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400"/>
              <a:t>Pessoas com alguma independência monetária </a:t>
            </a:r>
            <a:endParaRPr sz="1400"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400"/>
              <a:t>Pretendam controlar as suas finanças</a:t>
            </a:r>
            <a:endParaRPr sz="1400"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400"/>
              <a:t>Manter o registo e controlo dos seus gastos</a:t>
            </a:r>
            <a:endParaRPr sz="14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400" u="sng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PT" sz="1400"/>
              <a:t>Main UI Aspects</a:t>
            </a:r>
            <a:endParaRPr b="1" sz="1400"/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400"/>
              <a:t>Palete de cores</a:t>
            </a:r>
            <a:endParaRPr sz="1400"/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400"/>
              <a:t>Organização </a:t>
            </a:r>
            <a:endParaRPr sz="1400"/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400"/>
              <a:t>Informação em Gráficos</a:t>
            </a:r>
            <a:endParaRPr b="1" sz="1200" u="sng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4d024959bc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4d024959bc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200" u="sng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502edaa6da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502edaa6da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Descrever como o HE usamos</a:t>
            </a:r>
            <a:r>
              <a:rPr lang="pt-PT"/>
              <a:t>: Rui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Como o fizemos: </a:t>
            </a:r>
            <a:r>
              <a:rPr lang="pt-PT"/>
              <a:t>Rui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PT" sz="1400"/>
              <a:t>Como fizemos a HE? </a:t>
            </a:r>
            <a:r>
              <a:rPr b="1" lang="pt-PT" sz="1400">
                <a:highlight>
                  <a:srgbClr val="E06666"/>
                </a:highlight>
              </a:rPr>
              <a:t>Rui</a:t>
            </a:r>
            <a:endParaRPr sz="1200">
              <a:highlight>
                <a:srgbClr val="E06666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200"/>
              <a:t>Os membros do grupo que ainda não tinham aplicação instalaram e usaram durante uma semana, os outros continuaram com o uso normal.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PT" sz="1200"/>
              <a:t>Descrever como o HE foi usado </a:t>
            </a:r>
            <a:r>
              <a:rPr b="1" lang="pt-PT" sz="1200">
                <a:highlight>
                  <a:srgbClr val="E06666"/>
                </a:highlight>
              </a:rPr>
              <a:t>Rui</a:t>
            </a:r>
            <a:endParaRPr b="1" sz="1200">
              <a:highlight>
                <a:srgbClr val="E06666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200" u="sng"/>
              <a:t>Que sets de HE usámos</a:t>
            </a:r>
            <a:endParaRPr sz="1200" u="sng"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200"/>
              <a:t>Nielsen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200" u="sng"/>
              <a:t>Escala de severidade</a:t>
            </a:r>
            <a:endParaRPr sz="1200" u="sng"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200"/>
              <a:t>Escala 0-4 Nielsen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502edaa6da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502edaa6da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Select all button: </a:t>
            </a:r>
            <a:r>
              <a:rPr lang="pt-PT"/>
              <a:t>Tomás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502edaa6da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502edaa6da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List of categories: </a:t>
            </a:r>
            <a:r>
              <a:rPr lang="pt-PT"/>
              <a:t>Flávia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502edaa6da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502edaa6da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Resetting: </a:t>
            </a:r>
            <a:r>
              <a:rPr lang="pt-PT"/>
              <a:t>Rui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502edaa6da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502edaa6da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Forgiving a debt: </a:t>
            </a:r>
            <a:r>
              <a:rPr lang="pt-PT"/>
              <a:t>Tomás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502edaa6da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502edaa6da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“Modelo” - Bad Position: </a:t>
            </a:r>
            <a:r>
              <a:rPr lang="pt-PT"/>
              <a:t>Flávia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d014d9aa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4d014d9aa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“Modelo” - What is it?: </a:t>
            </a:r>
            <a:r>
              <a:rPr lang="pt-PT"/>
              <a:t>Rui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503020217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503020217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Multilanguage: </a:t>
            </a:r>
            <a:r>
              <a:rPr lang="pt-PT"/>
              <a:t>Tomás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503020217f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503020217f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No annul option: </a:t>
            </a:r>
            <a:r>
              <a:rPr lang="pt-PT"/>
              <a:t>Flávia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503020217f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503020217f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Cognitive Walkthrough:</a:t>
            </a:r>
            <a:r>
              <a:rPr lang="pt-PT"/>
              <a:t> Tomás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503020217f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503020217f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Categorize a debt: </a:t>
            </a:r>
            <a:r>
              <a:rPr lang="pt-PT"/>
              <a:t>Rui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503020217f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503020217f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Banned Places: </a:t>
            </a:r>
            <a:r>
              <a:rPr lang="pt-PT"/>
              <a:t>Flávia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503020217f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503020217f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Android vs iOS: </a:t>
            </a:r>
            <a:r>
              <a:rPr lang="pt-PT"/>
              <a:t>Dias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03020217f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503020217f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Android: </a:t>
            </a:r>
            <a:r>
              <a:rPr lang="pt-PT"/>
              <a:t>Eleandro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503020217f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503020217f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iOS: </a:t>
            </a:r>
            <a:r>
              <a:rPr lang="pt-PT"/>
              <a:t>Dias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503020217f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503020217f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Tabela: </a:t>
            </a:r>
            <a:r>
              <a:rPr lang="pt-PT"/>
              <a:t>Tomás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503020217f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503020217f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PT"/>
              <a:t>Conclusão: </a:t>
            </a:r>
            <a:r>
              <a:rPr lang="pt-PT"/>
              <a:t>Tomás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PT" sz="1400"/>
              <a:t>Considerações Finais? </a:t>
            </a:r>
            <a:r>
              <a:rPr b="1" lang="pt-PT" sz="1200">
                <a:highlight>
                  <a:srgbClr val="E06666"/>
                </a:highlight>
              </a:rPr>
              <a:t>Tomás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200"/>
              <a:t>Os novos utilizadores experienciaram dificuldades em usar a aplicação e necessitaram de ajuda dos membros que já tinham usado. Aplicação massuda de difícil utilização inicial e adaptação. Tutorial pouco explícito.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200"/>
              <a:t>Desvantagens para utilizadores de Iphone.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200"/>
              <a:t>Foi preciso reunir-nos e analisar com sentido crítico para encontrar todos os problemas. Um utilizador normal não iria deparar-se com os erros mais simples.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 sz="1200"/>
              <a:t>Um utilizador normal (e mesmo um experiente) irá desfrutar sem qualquer problema da aplicação.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jDeFg0AlBtA" TargetMode="External"/><Relationship Id="rId4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Wallet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0" y="2905475"/>
            <a:ext cx="7688100" cy="14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89296 </a:t>
            </a:r>
            <a:r>
              <a:rPr lang="pt-PT"/>
              <a:t>Tomás Batista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89236 </a:t>
            </a:r>
            <a:r>
              <a:rPr lang="pt-PT"/>
              <a:t>João Dias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88887 Flávia Figueiredo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88889 Rui Melo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83069 </a:t>
            </a:r>
            <a:r>
              <a:rPr lang="pt-PT"/>
              <a:t>Eleandro Gambôa</a:t>
            </a:r>
            <a:endParaRPr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0" y="4692050"/>
            <a:ext cx="91440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L. Engenharia Informática - P6 - 4/02/2019</a:t>
            </a:r>
            <a:endParaRPr/>
          </a:p>
        </p:txBody>
      </p:sp>
      <p:grpSp>
        <p:nvGrpSpPr>
          <p:cNvPr id="89" name="Google Shape;89;p13"/>
          <p:cNvGrpSpPr/>
          <p:nvPr/>
        </p:nvGrpSpPr>
        <p:grpSpPr>
          <a:xfrm>
            <a:off x="5092888" y="0"/>
            <a:ext cx="4051124" cy="493651"/>
            <a:chOff x="3633838" y="0"/>
            <a:chExt cx="4051124" cy="493651"/>
          </a:xfrm>
        </p:grpSpPr>
        <p:pic>
          <p:nvPicPr>
            <p:cNvPr id="90" name="Google Shape;90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05287" y="0"/>
              <a:ext cx="2679674" cy="493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3838" y="1"/>
              <a:ext cx="1315719" cy="493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Why Wallet?</a:t>
            </a:r>
            <a:endParaRPr/>
          </a:p>
        </p:txBody>
      </p:sp>
      <p:grpSp>
        <p:nvGrpSpPr>
          <p:cNvPr id="97" name="Google Shape;97;p14"/>
          <p:cNvGrpSpPr/>
          <p:nvPr/>
        </p:nvGrpSpPr>
        <p:grpSpPr>
          <a:xfrm>
            <a:off x="157275" y="2141800"/>
            <a:ext cx="8829452" cy="1975376"/>
            <a:chOff x="120975" y="2377350"/>
            <a:chExt cx="8829452" cy="1975376"/>
          </a:xfrm>
        </p:grpSpPr>
        <p:pic>
          <p:nvPicPr>
            <p:cNvPr id="98" name="Google Shape;98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975" y="2377350"/>
              <a:ext cx="4552775" cy="1975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73750" y="2377350"/>
              <a:ext cx="4276677" cy="1975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xplore how Wallet works for you and what can you benefit from: Bank connections, Budgets, smart categorisation and more. Download Wallet for free and find out how you can improve your finances." id="104" name="Google Shape;104;p15" title="Wallet by BudgetBakers introduction - the best features in 60 second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3238" y="653000"/>
            <a:ext cx="5537525" cy="415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Heuristic Evaluation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Jakob Nielsen's 10 general principles for interaction design.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t-PT"/>
              <a:t>Severity Ratings:</a:t>
            </a:r>
            <a:r>
              <a:rPr lang="pt-PT"/>
              <a:t> 0 to 4 rating scale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276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“Select all” Button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729450" y="2078875"/>
            <a:ext cx="3652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When creating a new budget, it does not have a select all button on the categories and the user needs to select them all one by one.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just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lang="pt-PT" sz="1400"/>
              <a:t>Flexibility and efficiency of use</a:t>
            </a:r>
            <a:endParaRPr b="1" sz="14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PT"/>
              <a:t>Severity Rating: </a:t>
            </a:r>
            <a:r>
              <a:rPr lang="pt-PT"/>
              <a:t>2</a:t>
            </a:r>
            <a:endParaRPr/>
          </a:p>
        </p:txBody>
      </p:sp>
      <p:grpSp>
        <p:nvGrpSpPr>
          <p:cNvPr id="117" name="Google Shape;117;p17"/>
          <p:cNvGrpSpPr/>
          <p:nvPr/>
        </p:nvGrpSpPr>
        <p:grpSpPr>
          <a:xfrm>
            <a:off x="4759700" y="466442"/>
            <a:ext cx="4384301" cy="4210623"/>
            <a:chOff x="4811500" y="636855"/>
            <a:chExt cx="4384301" cy="4210623"/>
          </a:xfrm>
        </p:grpSpPr>
        <p:pic>
          <p:nvPicPr>
            <p:cNvPr id="118" name="Google Shape;118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03651" y="636855"/>
              <a:ext cx="2192150" cy="42106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11500" y="638736"/>
              <a:ext cx="2192151" cy="420686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7276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List of Categories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729450" y="2078875"/>
            <a:ext cx="3652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After selecting all the categories you want, you are presented with this huge list.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just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lang="pt-PT" sz="1400"/>
              <a:t>Aesthetic and minimalist design </a:t>
            </a:r>
            <a:endParaRPr b="1" sz="14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PT"/>
              <a:t>Severity Rating: </a:t>
            </a:r>
            <a:r>
              <a:rPr lang="pt-PT"/>
              <a:t>1</a:t>
            </a:r>
            <a:endParaRPr/>
          </a:p>
        </p:txBody>
      </p:sp>
      <p:grpSp>
        <p:nvGrpSpPr>
          <p:cNvPr id="126" name="Google Shape;126;p18"/>
          <p:cNvGrpSpPr/>
          <p:nvPr/>
        </p:nvGrpSpPr>
        <p:grpSpPr>
          <a:xfrm>
            <a:off x="4759700" y="510650"/>
            <a:ext cx="4384299" cy="4207900"/>
            <a:chOff x="4811500" y="599450"/>
            <a:chExt cx="4384299" cy="4207900"/>
          </a:xfrm>
        </p:grpSpPr>
        <p:pic>
          <p:nvPicPr>
            <p:cNvPr id="127" name="Google Shape;127;p18"/>
            <p:cNvPicPr preferRelativeResize="0"/>
            <p:nvPr/>
          </p:nvPicPr>
          <p:blipFill rotWithShape="1">
            <a:blip r:embed="rId3">
              <a:alphaModFix/>
            </a:blip>
            <a:srcRect b="5416" l="0" r="0" t="3698"/>
            <a:stretch/>
          </p:blipFill>
          <p:spPr>
            <a:xfrm>
              <a:off x="7003650" y="599450"/>
              <a:ext cx="2192149" cy="4206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8"/>
            <p:cNvPicPr preferRelativeResize="0"/>
            <p:nvPr/>
          </p:nvPicPr>
          <p:blipFill rotWithShape="1">
            <a:blip r:embed="rId4">
              <a:alphaModFix/>
            </a:blip>
            <a:srcRect b="5373" l="0" r="0" t="3700"/>
            <a:stretch/>
          </p:blipFill>
          <p:spPr>
            <a:xfrm>
              <a:off x="4811500" y="599450"/>
              <a:ext cx="2192149" cy="4207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7276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Resetting</a:t>
            </a:r>
            <a:endParaRPr/>
          </a:p>
        </p:txBody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729450" y="2078875"/>
            <a:ext cx="3652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When trying to rest data we struggled and found that it’s not intuitive and it’s complex.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just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lang="pt-PT" sz="1400"/>
              <a:t>Flexibility and efficiency of use</a:t>
            </a:r>
            <a:endParaRPr b="1" sz="14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PT"/>
              <a:t>Severity Rating: </a:t>
            </a:r>
            <a:r>
              <a:rPr lang="pt-PT"/>
              <a:t>2</a:t>
            </a:r>
            <a:endParaRPr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4759950" y="502175"/>
            <a:ext cx="4384049" cy="4207376"/>
            <a:chOff x="4670875" y="686400"/>
            <a:chExt cx="4384049" cy="4207376"/>
          </a:xfrm>
        </p:grpSpPr>
        <p:pic>
          <p:nvPicPr>
            <p:cNvPr id="136" name="Google Shape;136;p19"/>
            <p:cNvPicPr preferRelativeResize="0"/>
            <p:nvPr/>
          </p:nvPicPr>
          <p:blipFill rotWithShape="1">
            <a:blip r:embed="rId3">
              <a:alphaModFix/>
            </a:blip>
            <a:srcRect b="5815" l="0" r="0" t="3316"/>
            <a:stretch/>
          </p:blipFill>
          <p:spPr>
            <a:xfrm>
              <a:off x="6863025" y="686400"/>
              <a:ext cx="2191899" cy="4205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19"/>
            <p:cNvPicPr preferRelativeResize="0"/>
            <p:nvPr/>
          </p:nvPicPr>
          <p:blipFill rotWithShape="1">
            <a:blip r:embed="rId4">
              <a:alphaModFix/>
            </a:blip>
            <a:srcRect b="5815" l="0" r="0" t="3316"/>
            <a:stretch/>
          </p:blipFill>
          <p:spPr>
            <a:xfrm>
              <a:off x="4670875" y="688275"/>
              <a:ext cx="2191899" cy="4205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" name="Google Shape;138;p19"/>
          <p:cNvSpPr/>
          <p:nvPr/>
        </p:nvSpPr>
        <p:spPr>
          <a:xfrm>
            <a:off x="7050700" y="1234050"/>
            <a:ext cx="429300" cy="3996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19"/>
          <p:cNvCxnSpPr/>
          <p:nvPr/>
        </p:nvCxnSpPr>
        <p:spPr>
          <a:xfrm flipH="1" rot="10800000">
            <a:off x="7325825" y="4619025"/>
            <a:ext cx="14805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7276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Forgiving a debt</a:t>
            </a:r>
            <a:endParaRPr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729450" y="2078875"/>
            <a:ext cx="3652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The act of forgiving a debt could be more visible.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just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lang="pt-PT" sz="1400"/>
              <a:t>Flexibility and efficiency of use</a:t>
            </a:r>
            <a:endParaRPr b="1" sz="14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PT"/>
              <a:t>Severity Rating: </a:t>
            </a:r>
            <a:r>
              <a:rPr lang="pt-PT"/>
              <a:t>2</a:t>
            </a:r>
            <a:endParaRPr/>
          </a:p>
        </p:txBody>
      </p:sp>
      <p:grpSp>
        <p:nvGrpSpPr>
          <p:cNvPr id="146" name="Google Shape;146;p20"/>
          <p:cNvGrpSpPr/>
          <p:nvPr/>
        </p:nvGrpSpPr>
        <p:grpSpPr>
          <a:xfrm>
            <a:off x="4759950" y="516175"/>
            <a:ext cx="4384051" cy="4207375"/>
            <a:chOff x="4759950" y="516175"/>
            <a:chExt cx="4384051" cy="4207375"/>
          </a:xfrm>
        </p:grpSpPr>
        <p:pic>
          <p:nvPicPr>
            <p:cNvPr id="147" name="Google Shape;147;p20"/>
            <p:cNvPicPr preferRelativeResize="0"/>
            <p:nvPr/>
          </p:nvPicPr>
          <p:blipFill rotWithShape="1">
            <a:blip r:embed="rId3">
              <a:alphaModFix/>
            </a:blip>
            <a:srcRect b="5589" l="0" r="0" t="3526"/>
            <a:stretch/>
          </p:blipFill>
          <p:spPr>
            <a:xfrm>
              <a:off x="6952100" y="516175"/>
              <a:ext cx="2191901" cy="420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20"/>
            <p:cNvPicPr preferRelativeResize="0"/>
            <p:nvPr/>
          </p:nvPicPr>
          <p:blipFill rotWithShape="1">
            <a:blip r:embed="rId4">
              <a:alphaModFix/>
            </a:blip>
            <a:srcRect b="5598" l="0" r="0" t="3517"/>
            <a:stretch/>
          </p:blipFill>
          <p:spPr>
            <a:xfrm>
              <a:off x="4759950" y="518050"/>
              <a:ext cx="2191901" cy="420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7276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“Modelo” - Bad position</a:t>
            </a:r>
            <a:endParaRPr/>
          </a:p>
        </p:txBody>
      </p:sp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729450" y="2078875"/>
            <a:ext cx="3652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The template button doesn’t look like a button, it seems like a separator.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just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lang="pt-PT" sz="1400"/>
              <a:t>Aesthetic and minimalist design </a:t>
            </a:r>
            <a:endParaRPr b="1" sz="14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PT"/>
              <a:t>Severity Rating: </a:t>
            </a:r>
            <a:r>
              <a:rPr lang="pt-PT"/>
              <a:t>1</a:t>
            </a:r>
            <a:endParaRPr/>
          </a:p>
        </p:txBody>
      </p:sp>
      <p:pic>
        <p:nvPicPr>
          <p:cNvPr id="155" name="Google Shape;155;p21"/>
          <p:cNvPicPr preferRelativeResize="0"/>
          <p:nvPr/>
        </p:nvPicPr>
        <p:blipFill rotWithShape="1">
          <a:blip r:embed="rId3">
            <a:alphaModFix/>
          </a:blip>
          <a:srcRect b="0" l="79" r="79" t="0"/>
          <a:stretch/>
        </p:blipFill>
        <p:spPr>
          <a:xfrm>
            <a:off x="6952100" y="516175"/>
            <a:ext cx="2191900" cy="4205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7276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“Modelo” - What is it?</a:t>
            </a:r>
            <a:endParaRPr/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729450" y="2078875"/>
            <a:ext cx="3652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There is no information about the purpose of this option.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just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lang="pt-PT" sz="1400"/>
              <a:t>Help and documentation</a:t>
            </a:r>
            <a:endParaRPr b="1" sz="14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PT"/>
              <a:t>Severity Rating: </a:t>
            </a:r>
            <a:r>
              <a:rPr lang="pt-PT"/>
              <a:t>3</a:t>
            </a:r>
            <a:endParaRPr/>
          </a:p>
        </p:txBody>
      </p:sp>
      <p:pic>
        <p:nvPicPr>
          <p:cNvPr id="162" name="Google Shape;162;p22"/>
          <p:cNvPicPr preferRelativeResize="0"/>
          <p:nvPr/>
        </p:nvPicPr>
        <p:blipFill rotWithShape="1">
          <a:blip r:embed="rId3">
            <a:alphaModFix/>
          </a:blip>
          <a:srcRect b="0" l="79" r="79" t="0"/>
          <a:stretch/>
        </p:blipFill>
        <p:spPr>
          <a:xfrm>
            <a:off x="6952100" y="516175"/>
            <a:ext cx="2191900" cy="4205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7276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Multilanguage </a:t>
            </a:r>
            <a:endParaRPr/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729450" y="2078875"/>
            <a:ext cx="3652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The app has some things in Portuguese and others in English.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just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lang="pt-PT" sz="1400"/>
              <a:t>Consistency and standards</a:t>
            </a:r>
            <a:endParaRPr b="1" sz="14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PT"/>
              <a:t>Severity Rating: </a:t>
            </a:r>
            <a:r>
              <a:rPr lang="pt-PT"/>
              <a:t>4</a:t>
            </a:r>
            <a:endParaRPr/>
          </a:p>
        </p:txBody>
      </p:sp>
      <p:pic>
        <p:nvPicPr>
          <p:cNvPr id="169" name="Google Shape;169;p23"/>
          <p:cNvPicPr preferRelativeResize="0"/>
          <p:nvPr/>
        </p:nvPicPr>
        <p:blipFill rotWithShape="1">
          <a:blip r:embed="rId3">
            <a:alphaModFix/>
          </a:blip>
          <a:srcRect b="9" l="0" r="0" t="9"/>
          <a:stretch/>
        </p:blipFill>
        <p:spPr>
          <a:xfrm>
            <a:off x="6952100" y="516175"/>
            <a:ext cx="2191901" cy="4205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3"/>
          <p:cNvPicPr preferRelativeResize="0"/>
          <p:nvPr/>
        </p:nvPicPr>
        <p:blipFill rotWithShape="1">
          <a:blip r:embed="rId4">
            <a:alphaModFix/>
          </a:blip>
          <a:srcRect b="0" l="129" r="139" t="0"/>
          <a:stretch/>
        </p:blipFill>
        <p:spPr>
          <a:xfrm>
            <a:off x="4759950" y="518050"/>
            <a:ext cx="2191901" cy="420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7276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No annul option </a:t>
            </a:r>
            <a:endParaRPr/>
          </a:p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729450" y="2078875"/>
            <a:ext cx="3652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If you do a mistake you need to go and delete the option you made.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just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lang="pt-PT" sz="1400"/>
              <a:t>Consistency and standards</a:t>
            </a:r>
            <a:endParaRPr b="1" sz="14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PT"/>
              <a:t>Severity Rating: </a:t>
            </a:r>
            <a:r>
              <a:rPr lang="pt-PT"/>
              <a:t>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Cognitive Walkthrough</a:t>
            </a:r>
            <a:endParaRPr/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Streamlined Cognitive Walkthrough </a:t>
            </a:r>
            <a:endParaRPr/>
          </a:p>
          <a:p>
            <a:pPr indent="-311150" lvl="0" marL="457200" rtl="0" algn="just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b="1" lang="pt-PT">
                <a:solidFill>
                  <a:srgbClr val="FF0000"/>
                </a:solidFill>
              </a:rPr>
              <a:t>Q</a:t>
            </a:r>
            <a:r>
              <a:rPr b="1" lang="pt-PT">
                <a:solidFill>
                  <a:srgbClr val="FF0000"/>
                </a:solidFill>
              </a:rPr>
              <a:t>1</a:t>
            </a:r>
            <a:r>
              <a:rPr b="1" lang="pt-PT"/>
              <a:t>:</a:t>
            </a:r>
            <a:r>
              <a:rPr lang="pt-PT"/>
              <a:t> </a:t>
            </a:r>
            <a:r>
              <a:rPr lang="pt-PT"/>
              <a:t>Will the user know what to do at this step?</a:t>
            </a:r>
            <a:endParaRPr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t-PT">
                <a:solidFill>
                  <a:srgbClr val="FF0000"/>
                </a:solidFill>
              </a:rPr>
              <a:t>Q2</a:t>
            </a:r>
            <a:r>
              <a:rPr b="1" lang="pt-PT"/>
              <a:t>: </a:t>
            </a:r>
            <a:r>
              <a:rPr lang="pt-PT"/>
              <a:t>If the user does the right thing, will they know that they did the right thing, and are making progress towards their goal?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7276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Categorize a debt</a:t>
            </a:r>
            <a:endParaRPr/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729450" y="2078875"/>
            <a:ext cx="3652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When doing the Cognitive Walkthrough, one of us had a struggle trying to perceive that this was a button.</a:t>
            </a:r>
            <a:endParaRPr b="1" sz="1400"/>
          </a:p>
          <a:p>
            <a:pPr indent="-311150" lvl="0" marL="457200" rtl="0" algn="just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b="1" lang="pt-PT" sz="1400"/>
              <a:t>Q1</a:t>
            </a:r>
            <a:r>
              <a:rPr lang="pt-PT" sz="1400"/>
              <a:t>: Yes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PT" sz="1400"/>
              <a:t>Q2: </a:t>
            </a:r>
            <a:r>
              <a:rPr lang="pt-PT" sz="1400"/>
              <a:t>Yes</a:t>
            </a:r>
            <a:endParaRPr sz="1400"/>
          </a:p>
        </p:txBody>
      </p:sp>
      <p:pic>
        <p:nvPicPr>
          <p:cNvPr id="189" name="Google Shape;189;p26"/>
          <p:cNvPicPr preferRelativeResize="0"/>
          <p:nvPr/>
        </p:nvPicPr>
        <p:blipFill rotWithShape="1">
          <a:blip r:embed="rId3">
            <a:alphaModFix/>
          </a:blip>
          <a:srcRect b="0" l="199" r="199" t="0"/>
          <a:stretch/>
        </p:blipFill>
        <p:spPr>
          <a:xfrm>
            <a:off x="6952100" y="516175"/>
            <a:ext cx="2191900" cy="42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>
            <p:ph type="title"/>
          </p:nvPr>
        </p:nvSpPr>
        <p:spPr>
          <a:xfrm>
            <a:off x="7276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Banned Places?</a:t>
            </a:r>
            <a:endParaRPr/>
          </a:p>
        </p:txBody>
      </p:sp>
      <p:sp>
        <p:nvSpPr>
          <p:cNvPr id="195" name="Google Shape;195;p27"/>
          <p:cNvSpPr txBox="1"/>
          <p:nvPr>
            <p:ph idx="1" type="body"/>
          </p:nvPr>
        </p:nvSpPr>
        <p:spPr>
          <a:xfrm>
            <a:off x="729450" y="2078875"/>
            <a:ext cx="3652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We found a feature that no one knows what’s for and there is no information on the app about it.</a:t>
            </a:r>
            <a:endParaRPr b="1" sz="1400"/>
          </a:p>
          <a:p>
            <a:pPr indent="-311150" lvl="0" marL="457200" rtl="0" algn="just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b="1" lang="pt-PT" sz="1400"/>
              <a:t>Q1</a:t>
            </a:r>
            <a:r>
              <a:rPr lang="pt-PT" sz="1400"/>
              <a:t>: No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PT" sz="1400"/>
              <a:t>Q2: </a:t>
            </a:r>
            <a:r>
              <a:rPr lang="pt-PT" sz="1400"/>
              <a:t>No because it’s impossible</a:t>
            </a:r>
            <a:endParaRPr sz="1400"/>
          </a:p>
        </p:txBody>
      </p:sp>
      <p:grpSp>
        <p:nvGrpSpPr>
          <p:cNvPr id="196" name="Google Shape;196;p27"/>
          <p:cNvGrpSpPr/>
          <p:nvPr/>
        </p:nvGrpSpPr>
        <p:grpSpPr>
          <a:xfrm>
            <a:off x="4760200" y="516175"/>
            <a:ext cx="4383801" cy="4205506"/>
            <a:chOff x="4760200" y="516175"/>
            <a:chExt cx="4383801" cy="4205506"/>
          </a:xfrm>
        </p:grpSpPr>
        <p:pic>
          <p:nvPicPr>
            <p:cNvPr id="197" name="Google Shape;197;p27"/>
            <p:cNvPicPr preferRelativeResize="0"/>
            <p:nvPr/>
          </p:nvPicPr>
          <p:blipFill rotWithShape="1">
            <a:blip r:embed="rId3">
              <a:alphaModFix/>
            </a:blip>
            <a:srcRect b="5416" l="0" r="0" t="3698"/>
            <a:stretch/>
          </p:blipFill>
          <p:spPr>
            <a:xfrm>
              <a:off x="6952100" y="516175"/>
              <a:ext cx="2191901" cy="42055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27"/>
            <p:cNvPicPr preferRelativeResize="0"/>
            <p:nvPr/>
          </p:nvPicPr>
          <p:blipFill rotWithShape="1">
            <a:blip r:embed="rId4">
              <a:alphaModFix/>
            </a:blip>
            <a:srcRect b="5416" l="0" r="0" t="3698"/>
            <a:stretch/>
          </p:blipFill>
          <p:spPr>
            <a:xfrm>
              <a:off x="4760200" y="516175"/>
              <a:ext cx="2191901" cy="420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Android vs iOS</a:t>
            </a:r>
            <a:endParaRPr/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We discovered that the app it’s different for the two OS.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pt-PT"/>
              <a:t>The iOS it’s more outdated and has a lack of options that Android have.</a:t>
            </a:r>
            <a:endParaRPr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1600" y="3092125"/>
            <a:ext cx="2980800" cy="18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Android</a:t>
            </a:r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Pros:</a:t>
            </a:r>
            <a:endParaRPr/>
          </a:p>
          <a:p>
            <a:pPr indent="-311150" lvl="0" marL="457200" rtl="0" algn="just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Content organized in boxes</a:t>
            </a:r>
            <a:endParaRPr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More graph options</a:t>
            </a:r>
            <a:endParaRPr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More functionalities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Cons:</a:t>
            </a:r>
            <a:endParaRPr/>
          </a:p>
          <a:p>
            <a:pPr indent="-311150" lvl="0" marL="457200" rtl="0" algn="just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More </a:t>
            </a:r>
            <a:r>
              <a:rPr lang="pt-PT"/>
              <a:t>information (Can be a con)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12" name="Google Shape;212;p29"/>
          <p:cNvGrpSpPr/>
          <p:nvPr/>
        </p:nvGrpSpPr>
        <p:grpSpPr>
          <a:xfrm>
            <a:off x="4271750" y="485700"/>
            <a:ext cx="4872251" cy="4625951"/>
            <a:chOff x="3968925" y="485700"/>
            <a:chExt cx="4872251" cy="4625951"/>
          </a:xfrm>
        </p:grpSpPr>
        <p:pic>
          <p:nvPicPr>
            <p:cNvPr id="213" name="Google Shape;213;p29"/>
            <p:cNvPicPr preferRelativeResize="0"/>
            <p:nvPr/>
          </p:nvPicPr>
          <p:blipFill rotWithShape="1">
            <a:blip r:embed="rId3">
              <a:alphaModFix/>
            </a:blip>
            <a:srcRect b="5728" l="0" r="0" t="4334"/>
            <a:stretch/>
          </p:blipFill>
          <p:spPr>
            <a:xfrm>
              <a:off x="3968925" y="485700"/>
              <a:ext cx="2436126" cy="4625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29"/>
            <p:cNvPicPr preferRelativeResize="0"/>
            <p:nvPr/>
          </p:nvPicPr>
          <p:blipFill rotWithShape="1">
            <a:blip r:embed="rId4">
              <a:alphaModFix/>
            </a:blip>
            <a:srcRect b="5800" l="0" r="0" t="4262"/>
            <a:stretch/>
          </p:blipFill>
          <p:spPr>
            <a:xfrm>
              <a:off x="6405050" y="485700"/>
              <a:ext cx="2436126" cy="462543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iOS</a:t>
            </a:r>
            <a:endParaRPr/>
          </a:p>
        </p:txBody>
      </p:sp>
      <p:sp>
        <p:nvSpPr>
          <p:cNvPr id="220" name="Google Shape;220;p30"/>
          <p:cNvSpPr txBox="1"/>
          <p:nvPr>
            <p:ph idx="1" type="body"/>
          </p:nvPr>
        </p:nvSpPr>
        <p:spPr>
          <a:xfrm>
            <a:off x="657800" y="2070900"/>
            <a:ext cx="3842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/>
              <a:t>Pros:</a:t>
            </a:r>
            <a:endParaRPr sz="1400"/>
          </a:p>
          <a:p>
            <a:pPr indent="-311150" lvl="0" marL="457200" rtl="0" algn="just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Minimalist</a:t>
            </a:r>
            <a:endParaRPr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Organized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1400"/>
              <a:t>Cons:</a:t>
            </a:r>
            <a:endParaRPr sz="1400"/>
          </a:p>
          <a:p>
            <a:pPr indent="-311150" lvl="0" marL="457200" rtl="0" algn="just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Not possible to search for a debt</a:t>
            </a:r>
            <a:endParaRPr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Not possible to filter the debts by the name</a:t>
            </a:r>
            <a:endParaRPr/>
          </a:p>
        </p:txBody>
      </p:sp>
      <p:grpSp>
        <p:nvGrpSpPr>
          <p:cNvPr id="221" name="Google Shape;221;p30"/>
          <p:cNvGrpSpPr/>
          <p:nvPr/>
        </p:nvGrpSpPr>
        <p:grpSpPr>
          <a:xfrm>
            <a:off x="4380950" y="541272"/>
            <a:ext cx="4763052" cy="4235954"/>
            <a:chOff x="4380950" y="541272"/>
            <a:chExt cx="4763052" cy="4235954"/>
          </a:xfrm>
        </p:grpSpPr>
        <p:pic>
          <p:nvPicPr>
            <p:cNvPr id="222" name="Google Shape;222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80950" y="541272"/>
              <a:ext cx="2381526" cy="42359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62477" y="541275"/>
              <a:ext cx="2381526" cy="42359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>
            <p:ph type="title"/>
          </p:nvPr>
        </p:nvSpPr>
        <p:spPr>
          <a:xfrm>
            <a:off x="727650" y="562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Problems found with HE</a:t>
            </a:r>
            <a:endParaRPr/>
          </a:p>
        </p:txBody>
      </p:sp>
      <p:graphicFrame>
        <p:nvGraphicFramePr>
          <p:cNvPr id="229" name="Google Shape;229;p31"/>
          <p:cNvGraphicFramePr/>
          <p:nvPr/>
        </p:nvGraphicFramePr>
        <p:xfrm>
          <a:off x="952500" y="139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{5DECCBB6-33F7-45B0-8DD3-7ABB1D10B171}</a:tableStyleId>
              </a:tblPr>
              <a:tblGrid>
                <a:gridCol w="2413000"/>
                <a:gridCol w="2413000"/>
                <a:gridCol w="2413000"/>
              </a:tblGrid>
              <a:tr h="3844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/>
                        <a:t>Problem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/>
                        <a:t>Found by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/>
                        <a:t>Severity Rating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“Select all” Button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Tomás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List of Categories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Resetting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Rui, Flávia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Forgiving a debt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João, Eleandro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“Modelo” - Bad position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“Modelo” - What is it?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Flávia, Tomás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Multilanguage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Eleandro, João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No annul option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Flávia, Rui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Conclusion</a:t>
            </a:r>
            <a:endParaRPr/>
          </a:p>
        </p:txBody>
      </p:sp>
      <p:pic>
        <p:nvPicPr>
          <p:cNvPr id="235" name="Google Shape;23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9275" y="1656700"/>
            <a:ext cx="3105450" cy="31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